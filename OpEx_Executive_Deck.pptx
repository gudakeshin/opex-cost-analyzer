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Intelligence Platform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Cost Optimization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Enterprise Spend Analysis | FY2026 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benchmarking, value-lever analysis, and savings opportunity sizing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67512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Snapshot: Q1 2026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86200" cy="2103120"/>
          </a:xfrm>
          <a:prstGeom prst="rect">
            <a:avLst/>
          </a:prstGeom>
          <a:solidFill>
            <a:srgbClr val="ECF0F1"/>
          </a:solidFill>
          <a:ln w="381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Spend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$847M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+8.2% vs. FY2025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3886200" cy="2103120"/>
          </a:xfrm>
          <a:prstGeom prst="rect">
            <a:avLst/>
          </a:prstGeom>
          <a:solidFill>
            <a:srgbClr val="ECF0F1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325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Potential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$92.1M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83480" y="2514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 of spend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886200" cy="2103120"/>
          </a:xfrm>
          <a:prstGeom prst="rect">
            <a:avLst/>
          </a:prstGeom>
          <a:solidFill>
            <a:srgbClr val="ECF0F1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86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Variance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$21.3M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+2.5% overspend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657600"/>
            <a:ext cx="3886200" cy="2103120"/>
          </a:xfrm>
          <a:prstGeom prst="rect">
            <a:avLst/>
          </a:prstGeom>
          <a:solidFill>
            <a:srgbClr val="ECF0F1"/>
          </a:solidFill>
          <a:ln w="38100">
            <a:solidFill>
              <a:srgbClr val="2C3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886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Initiatives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42976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83480" y="50749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$18.2M committed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Profile by Category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Infrastructure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0" y="1097280"/>
            <a:ext cx="4195851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6939051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$187.4M (22.1%)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Materials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3510723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6253923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$156.8M (18.5%)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011680"/>
            <a:ext cx="3197265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0465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$142.8M (16.9%)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468880"/>
            <a:ext cx="4572000" cy="22860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$204.2M (24.1%)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&amp; Real Estate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926080"/>
            <a:ext cx="2207636" cy="2286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4950836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$98.6M (11.6%)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&amp; Expense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383280"/>
            <a:ext cx="1504595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247795" y="3383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$67.2M (7.9%)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vs. Actuals Variance Analysis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237744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IT Infrastructure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$182.1M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$187.4M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-$5.3M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Price inflation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Professional Services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$138.2M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$142.8M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-$4.6M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Volume increase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Travel &amp; Expense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$61.8M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$67.2M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-$5.4M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Higher volumes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 &amp; Events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$48.1M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$52.3M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-$4.2M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Channel mix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Facilities &amp; Real Estate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$102.3M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$98.6M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+$3.7M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Hybrid 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Value-at-the-Table: Savings Opportunities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0" y="1234440"/>
            <a:ext cx="1709928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4453128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$31.8M (34%)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1408176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151376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$26.2M (28%)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880360"/>
            <a:ext cx="100584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$18.4M (20%)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3703320"/>
            <a:ext cx="905256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3648456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$15.7M (18%)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92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Identified Savings: $92.1M (10.9% of annual spend) | P50 Confidence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Initiative Pipeline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4389120"/>
                <a:gridCol w="1828800"/>
                <a:gridCol w="20116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Est. Savings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Optimization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$4.2M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 Progress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Professional Services Rate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$3.8M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 Progress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Travel Policy Tightening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$2.4M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Planned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Software License Consolidation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$2.1M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 Progress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Telecom Renegotiation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$1.8M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Not Started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&amp; Strategic Recommendations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09728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2412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spending 19.8% above benchmark → $18.2M consolidation opportunity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84248"/>
            <a:ext cx="109728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inflation (4.2% cloud increase) is primary driver → immediate renegotiation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44368"/>
            <a:ext cx="109728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4436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spend 14% over benchmark → $8.1M through policy tightening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04488"/>
            <a:ext cx="109728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0448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capital: 20-day payment terms extension = $3.2M one-time cash release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864608"/>
            <a:ext cx="109728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6460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$74M opportunity gap remains → second wave initiatives for future cycles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&amp; Timeline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3657600"/>
                <a:gridCol w="2103120"/>
              </a:tblGrid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Initiatives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Savings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Wave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Q2 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Cloud optimization, Services negotiation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$8.0M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Wave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Q3 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Travel policy, License audit completion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$5.3M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Wave 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Q4 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FTE conversion, Marketing mix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$3.9M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Wave 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Q1 2027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Supplier consolidation, Next-wave analysis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$1.1M+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754880"/>
            <a:ext cx="8229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892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Run-Rate Target: $36.5M | Additional Opportunity: $74M (2nd Wave)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Approve Q2 Cloud Optimization &amp; Services initiatives ($8.0M target)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Establish executive steering committee for monthly tracking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Launch detailed business cases for top 5 opportunities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Brief procurement &amp; finance teams on benchmarking methodology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Intelligence Platform v1.8 |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2026-05-10T08:15:57Z</dcterms:created>
  <dcterms:modified xsi:type="dcterms:W3CDTF">2026-05-10T08:15:57Z</dcterms:modified>
</cp:coreProperties>
</file>