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2011680"/>
            <a:ext cx="7680960" cy="731520"/>
          </a:xfrm>
          <a:prstGeom prst="rect">
            <a:avLst/>
          </a:prstGeom>
          <a:noFill/>
          <a:ln/>
        </p:spPr>
        <p:txBody>
          <a:bodyPr wrap="square" rtlCol="0" anchor="ctr"/>
          <a:lstStyle/>
          <a:p>
            <a:pPr indent="0" marL="0">
              <a:buNone/>
            </a:pPr>
            <a:r>
              <a:rPr lang="en-US" sz="4800" b="1" dirty="0">
                <a:solidFill>
                  <a:srgbClr val="003D7A"/>
                </a:solidFill>
                <a:latin typeface="Arial" pitchFamily="34" charset="0"/>
                <a:ea typeface="Arial" pitchFamily="34" charset="-122"/>
                <a:cs typeface="Arial" pitchFamily="34" charset="-120"/>
              </a:rPr>
              <a:t>OpEx Intelligence Platform</a:t>
            </a:r>
            <a:endParaRPr lang="en-US" sz="4800" dirty="0"/>
          </a:p>
        </p:txBody>
      </p:sp>
      <p:sp>
        <p:nvSpPr>
          <p:cNvPr id="4" name="Text 2"/>
          <p:cNvSpPr/>
          <p:nvPr/>
        </p:nvSpPr>
        <p:spPr>
          <a:xfrm>
            <a:off x="731520" y="2926080"/>
            <a:ext cx="7680960" cy="731520"/>
          </a:xfrm>
          <a:prstGeom prst="rect">
            <a:avLst/>
          </a:prstGeom>
          <a:noFill/>
          <a:ln/>
        </p:spPr>
        <p:txBody>
          <a:bodyPr wrap="square" rtlCol="0" anchor="ctr"/>
          <a:lstStyle/>
          <a:p>
            <a:pPr indent="0" marL="0">
              <a:buNone/>
            </a:pPr>
            <a:r>
              <a:rPr lang="en-US" sz="1800" dirty="0">
                <a:solidFill>
                  <a:srgbClr val="2A2A2A"/>
                </a:solidFill>
                <a:latin typeface="Arial" pitchFamily="34" charset="0"/>
                <a:ea typeface="Arial" pitchFamily="34" charset="-122"/>
                <a:cs typeface="Arial" pitchFamily="34" charset="-120"/>
              </a:rPr>
              <a:t>Autonomous Cost Optimization Through Intelligent Value Lever Analysis</a:t>
            </a:r>
            <a:endParaRPr lang="en-US" sz="1800" dirty="0"/>
          </a:p>
        </p:txBody>
      </p:sp>
      <p:sp>
        <p:nvSpPr>
          <p:cNvPr id="5" name="Shape 3"/>
          <p:cNvSpPr/>
          <p:nvPr/>
        </p:nvSpPr>
        <p:spPr>
          <a:xfrm>
            <a:off x="731520" y="3931920"/>
            <a:ext cx="7680960" cy="1828800"/>
          </a:xfrm>
          <a:prstGeom prst="rect">
            <a:avLst/>
          </a:prstGeom>
          <a:solidFill>
            <a:srgbClr val="F0F0F0"/>
          </a:solidFill>
          <a:ln/>
        </p:spPr>
      </p:sp>
      <p:sp>
        <p:nvSpPr>
          <p:cNvPr id="6" name="Text 4"/>
          <p:cNvSpPr/>
          <p:nvPr/>
        </p:nvSpPr>
        <p:spPr>
          <a:xfrm>
            <a:off x="914400" y="4114800"/>
            <a:ext cx="7315200" cy="1463040"/>
          </a:xfrm>
          <a:prstGeom prst="rect">
            <a:avLst/>
          </a:prstGeom>
          <a:noFill/>
          <a:ln/>
        </p:spPr>
        <p:txBody>
          <a:bodyPr wrap="square" rtlCol="0" anchor="ctr"/>
          <a:lstStyle/>
          <a:p>
            <a:pPr indent="0" marL="0">
              <a:buNone/>
            </a:pPr>
            <a:r>
              <a:rPr lang="en-US" sz="1300" b="1" dirty="0">
                <a:solidFill>
                  <a:srgbClr val="003D7A"/>
                </a:solidFill>
                <a:latin typeface="Arial" pitchFamily="34" charset="0"/>
                <a:ea typeface="Arial" pitchFamily="34" charset="-122"/>
                <a:cs typeface="Arial" pitchFamily="34" charset="-120"/>
              </a:rPr>
              <a:t>AI-Powered Agentic System | Value Lever Framework | Institutional Memory | Autonomous Optimization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365760"/>
            <a:ext cx="7680960" cy="548640"/>
          </a:xfrm>
          <a:prstGeom prst="rect">
            <a:avLst/>
          </a:prstGeom>
          <a:noFill/>
          <a:ln/>
        </p:spPr>
        <p:txBody>
          <a:bodyPr wrap="square" rtlCol="0" anchor="ctr"/>
          <a:lstStyle/>
          <a:p>
            <a:pPr indent="0" marL="0">
              <a:buNone/>
            </a:pPr>
            <a:r>
              <a:rPr lang="en-US" sz="3200" b="1" dirty="0">
                <a:solidFill>
                  <a:srgbClr val="003D7A"/>
                </a:solidFill>
                <a:latin typeface="Arial" pitchFamily="34" charset="0"/>
                <a:ea typeface="Arial" pitchFamily="34" charset="-122"/>
                <a:cs typeface="Arial" pitchFamily="34" charset="-120"/>
              </a:rPr>
              <a:t>The Hidden Margin Crisis</a:t>
            </a:r>
            <a:endParaRPr lang="en-US" sz="3200" dirty="0"/>
          </a:p>
        </p:txBody>
      </p:sp>
      <p:sp>
        <p:nvSpPr>
          <p:cNvPr id="4" name="Text 2"/>
          <p:cNvSpPr/>
          <p:nvPr/>
        </p:nvSpPr>
        <p:spPr>
          <a:xfrm>
            <a:off x="731520" y="1005840"/>
            <a:ext cx="7680960" cy="365760"/>
          </a:xfrm>
          <a:prstGeom prst="rect">
            <a:avLst/>
          </a:prstGeom>
          <a:noFill/>
          <a:ln/>
        </p:spPr>
        <p:txBody>
          <a:bodyPr wrap="square" rtlCol="0" anchor="ctr"/>
          <a:lstStyle/>
          <a:p>
            <a:pPr indent="0" marL="0">
              <a:buNone/>
            </a:pPr>
            <a:r>
              <a:rPr lang="en-US" sz="1400" i="1" dirty="0">
                <a:solidFill>
                  <a:srgbClr val="2A2A2A"/>
                </a:solidFill>
                <a:latin typeface="Arial" pitchFamily="34" charset="0"/>
                <a:ea typeface="Arial" pitchFamily="34" charset="-122"/>
                <a:cs typeface="Arial" pitchFamily="34" charset="-120"/>
              </a:rPr>
              <a:t>Why Operating Expenses Are Becoming a Strategic Liability</a:t>
            </a:r>
            <a:endParaRPr lang="en-US" sz="1400" dirty="0"/>
          </a:p>
        </p:txBody>
      </p:sp>
      <p:sp>
        <p:nvSpPr>
          <p:cNvPr id="5" name="Text 3"/>
          <p:cNvSpPr/>
          <p:nvPr/>
        </p:nvSpPr>
        <p:spPr>
          <a:xfrm>
            <a:off x="731520" y="1554480"/>
            <a:ext cx="7680960" cy="256032"/>
          </a:xfrm>
          <a:prstGeom prst="rect">
            <a:avLst/>
          </a:prstGeom>
          <a:noFill/>
          <a:ln/>
        </p:spPr>
        <p:txBody>
          <a:bodyPr wrap="square" rtlCol="0" anchor="ctr"/>
          <a:lstStyle/>
          <a:p>
            <a:pPr indent="0" marL="0">
              <a:buNone/>
            </a:pPr>
            <a:r>
              <a:rPr lang="en-US" sz="1200" b="1" dirty="0">
                <a:solidFill>
                  <a:srgbClr val="E8853C"/>
                </a:solidFill>
                <a:latin typeface="Arial" pitchFamily="34" charset="0"/>
                <a:ea typeface="Arial" pitchFamily="34" charset="-122"/>
                <a:cs typeface="Arial" pitchFamily="34" charset="-120"/>
              </a:rPr>
              <a:t>Fragmented OpEx Visibility</a:t>
            </a:r>
            <a:endParaRPr lang="en-US" sz="1200" dirty="0"/>
          </a:p>
        </p:txBody>
      </p:sp>
      <p:sp>
        <p:nvSpPr>
          <p:cNvPr id="6" name="Text 4"/>
          <p:cNvSpPr/>
          <p:nvPr/>
        </p:nvSpPr>
        <p:spPr>
          <a:xfrm>
            <a:off x="731520" y="1874520"/>
            <a:ext cx="7680960" cy="548640"/>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Spend decisions remain siloed by function. Finance lacks real-time insight into procurement trade-offs. No unified framework for trade-off analysis across categories.</a:t>
            </a:r>
            <a:endParaRPr lang="en-US" sz="1100" dirty="0"/>
          </a:p>
        </p:txBody>
      </p:sp>
      <p:sp>
        <p:nvSpPr>
          <p:cNvPr id="7" name="Text 5"/>
          <p:cNvSpPr/>
          <p:nvPr/>
        </p:nvSpPr>
        <p:spPr>
          <a:xfrm>
            <a:off x="731520" y="2651760"/>
            <a:ext cx="7680960" cy="256032"/>
          </a:xfrm>
          <a:prstGeom prst="rect">
            <a:avLst/>
          </a:prstGeom>
          <a:noFill/>
          <a:ln/>
        </p:spPr>
        <p:txBody>
          <a:bodyPr wrap="square" rtlCol="0" anchor="ctr"/>
          <a:lstStyle/>
          <a:p>
            <a:pPr indent="0" marL="0">
              <a:buNone/>
            </a:pPr>
            <a:r>
              <a:rPr lang="en-US" sz="1200" b="1" dirty="0">
                <a:solidFill>
                  <a:srgbClr val="E8853C"/>
                </a:solidFill>
                <a:latin typeface="Arial" pitchFamily="34" charset="0"/>
                <a:ea typeface="Arial" pitchFamily="34" charset="-122"/>
                <a:cs typeface="Arial" pitchFamily="34" charset="-120"/>
              </a:rPr>
              <a:t>Structural Inefficiency Embedded</a:t>
            </a:r>
            <a:endParaRPr lang="en-US" sz="1200" dirty="0"/>
          </a:p>
        </p:txBody>
      </p:sp>
      <p:sp>
        <p:nvSpPr>
          <p:cNvPr id="8" name="Text 6"/>
          <p:cNvSpPr/>
          <p:nvPr/>
        </p:nvSpPr>
        <p:spPr>
          <a:xfrm>
            <a:off x="731520" y="2971800"/>
            <a:ext cx="7680960" cy="548640"/>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Supplier relationships, contract terms, and internal processes evolved piecemeal. Legacy suppliers lock in premium pricing. No systematic approach to identifying suboptimal arrangements.</a:t>
            </a:r>
            <a:endParaRPr lang="en-US" sz="1100" dirty="0"/>
          </a:p>
        </p:txBody>
      </p:sp>
      <p:sp>
        <p:nvSpPr>
          <p:cNvPr id="9" name="Text 7"/>
          <p:cNvSpPr/>
          <p:nvPr/>
        </p:nvSpPr>
        <p:spPr>
          <a:xfrm>
            <a:off x="731520" y="3749040"/>
            <a:ext cx="7680960" cy="256032"/>
          </a:xfrm>
          <a:prstGeom prst="rect">
            <a:avLst/>
          </a:prstGeom>
          <a:noFill/>
          <a:ln/>
        </p:spPr>
        <p:txBody>
          <a:bodyPr wrap="square" rtlCol="0" anchor="ctr"/>
          <a:lstStyle/>
          <a:p>
            <a:pPr indent="0" marL="0">
              <a:buNone/>
            </a:pPr>
            <a:r>
              <a:rPr lang="en-US" sz="1200" b="1" dirty="0">
                <a:solidFill>
                  <a:srgbClr val="E8853C"/>
                </a:solidFill>
                <a:latin typeface="Arial" pitchFamily="34" charset="0"/>
                <a:ea typeface="Arial" pitchFamily="34" charset="-122"/>
                <a:cs typeface="Arial" pitchFamily="34" charset="-120"/>
              </a:rPr>
              <a:t>Reactive, Not Proactive</a:t>
            </a:r>
            <a:endParaRPr lang="en-US" sz="1200" dirty="0"/>
          </a:p>
        </p:txBody>
      </p:sp>
      <p:sp>
        <p:nvSpPr>
          <p:cNvPr id="10" name="Text 8"/>
          <p:cNvSpPr/>
          <p:nvPr/>
        </p:nvSpPr>
        <p:spPr>
          <a:xfrm>
            <a:off x="731520" y="4069080"/>
            <a:ext cx="7680960" cy="548640"/>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Cost reduction happens only during budget crises. Quarterly spikes go unanalyzed. By the time waste is identified, competitive windows have closed.</a:t>
            </a:r>
            <a:endParaRPr lang="en-US" sz="1100" dirty="0"/>
          </a:p>
        </p:txBody>
      </p:sp>
      <p:sp>
        <p:nvSpPr>
          <p:cNvPr id="11" name="Text 9"/>
          <p:cNvSpPr/>
          <p:nvPr/>
        </p:nvSpPr>
        <p:spPr>
          <a:xfrm>
            <a:off x="731520" y="4846320"/>
            <a:ext cx="7680960" cy="256032"/>
          </a:xfrm>
          <a:prstGeom prst="rect">
            <a:avLst/>
          </a:prstGeom>
          <a:noFill/>
          <a:ln/>
        </p:spPr>
        <p:txBody>
          <a:bodyPr wrap="square" rtlCol="0" anchor="ctr"/>
          <a:lstStyle/>
          <a:p>
            <a:pPr indent="0" marL="0">
              <a:buNone/>
            </a:pPr>
            <a:r>
              <a:rPr lang="en-US" sz="1200" b="1" dirty="0">
                <a:solidFill>
                  <a:srgbClr val="E8853C"/>
                </a:solidFill>
                <a:latin typeface="Arial" pitchFamily="34" charset="0"/>
                <a:ea typeface="Arial" pitchFamily="34" charset="-122"/>
                <a:cs typeface="Arial" pitchFamily="34" charset="-120"/>
              </a:rPr>
              <a:t>Consulting Dependency = Perpetual Cost</a:t>
            </a:r>
            <a:endParaRPr lang="en-US" sz="1200" dirty="0"/>
          </a:p>
        </p:txBody>
      </p:sp>
      <p:sp>
        <p:nvSpPr>
          <p:cNvPr id="12" name="Text 10"/>
          <p:cNvSpPr/>
          <p:nvPr/>
        </p:nvSpPr>
        <p:spPr>
          <a:xfrm>
            <a:off x="731520" y="5166360"/>
            <a:ext cx="7680960" cy="548640"/>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$800K-$2M per engagement. 12-week cycles. Zero knowledge transfer. Each initiative starts from scratch. Opportunity cost of delayed action: millions in uncaptured savings.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365760"/>
            <a:ext cx="7680960" cy="548640"/>
          </a:xfrm>
          <a:prstGeom prst="rect">
            <a:avLst/>
          </a:prstGeom>
          <a:noFill/>
          <a:ln/>
        </p:spPr>
        <p:txBody>
          <a:bodyPr wrap="square" rtlCol="0" anchor="ctr"/>
          <a:lstStyle/>
          <a:p>
            <a:pPr indent="0" marL="0">
              <a:buNone/>
            </a:pPr>
            <a:r>
              <a:rPr lang="en-US" sz="3200" b="1" dirty="0">
                <a:solidFill>
                  <a:srgbClr val="003D7A"/>
                </a:solidFill>
                <a:latin typeface="Arial" pitchFamily="34" charset="0"/>
                <a:ea typeface="Arial" pitchFamily="34" charset="-122"/>
                <a:cs typeface="Arial" pitchFamily="34" charset="-120"/>
              </a:rPr>
              <a:t>Quantifying the Opportunity Gap</a:t>
            </a:r>
            <a:endParaRPr lang="en-US" sz="3200" dirty="0"/>
          </a:p>
        </p:txBody>
      </p:sp>
      <p:sp>
        <p:nvSpPr>
          <p:cNvPr id="4" name="Shape 2"/>
          <p:cNvSpPr/>
          <p:nvPr/>
        </p:nvSpPr>
        <p:spPr>
          <a:xfrm>
            <a:off x="731520" y="1188720"/>
            <a:ext cx="7680960" cy="868680"/>
          </a:xfrm>
          <a:prstGeom prst="rect">
            <a:avLst/>
          </a:prstGeom>
          <a:solidFill>
            <a:srgbClr val="F0F0F0"/>
          </a:solidFill>
          <a:ln/>
        </p:spPr>
      </p:sp>
      <p:sp>
        <p:nvSpPr>
          <p:cNvPr id="5" name="Text 3"/>
          <p:cNvSpPr/>
          <p:nvPr/>
        </p:nvSpPr>
        <p:spPr>
          <a:xfrm>
            <a:off x="914400" y="1261872"/>
            <a:ext cx="2926080" cy="27432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Average OpEx Inefficiency</a:t>
            </a:r>
            <a:endParaRPr lang="en-US" sz="1100" dirty="0"/>
          </a:p>
        </p:txBody>
      </p:sp>
      <p:sp>
        <p:nvSpPr>
          <p:cNvPr id="6" name="Text 4"/>
          <p:cNvSpPr/>
          <p:nvPr/>
        </p:nvSpPr>
        <p:spPr>
          <a:xfrm>
            <a:off x="914400" y="1572768"/>
            <a:ext cx="2926080" cy="320040"/>
          </a:xfrm>
          <a:prstGeom prst="rect">
            <a:avLst/>
          </a:prstGeom>
          <a:noFill/>
          <a:ln/>
        </p:spPr>
        <p:txBody>
          <a:bodyPr wrap="square" rtlCol="0" anchor="ctr"/>
          <a:lstStyle/>
          <a:p>
            <a:pPr indent="0" marL="0">
              <a:buNone/>
            </a:pPr>
            <a:r>
              <a:rPr lang="en-US" sz="1800" b="1" dirty="0">
                <a:solidFill>
                  <a:srgbClr val="00A651"/>
                </a:solidFill>
                <a:latin typeface="Arial" pitchFamily="34" charset="0"/>
                <a:ea typeface="Arial" pitchFamily="34" charset="-122"/>
                <a:cs typeface="Arial" pitchFamily="34" charset="-120"/>
              </a:rPr>
              <a:t>10–15%</a:t>
            </a:r>
            <a:endParaRPr lang="en-US" sz="1800" dirty="0"/>
          </a:p>
        </p:txBody>
      </p:sp>
      <p:sp>
        <p:nvSpPr>
          <p:cNvPr id="7" name="Text 5"/>
          <p:cNvSpPr/>
          <p:nvPr/>
        </p:nvSpPr>
        <p:spPr>
          <a:xfrm>
            <a:off x="3931920" y="1325880"/>
            <a:ext cx="4480560" cy="594360"/>
          </a:xfrm>
          <a:prstGeom prst="rect">
            <a:avLst/>
          </a:prstGeom>
          <a:noFill/>
          <a:ln/>
        </p:spPr>
        <p:txBody>
          <a:bodyPr wrap="square" rtlCol="0" anchor="ctr"/>
          <a:lstStyle/>
          <a:p>
            <a:pPr indent="0" marL="0">
              <a:buNone/>
            </a:pPr>
            <a:r>
              <a:rPr lang="en-US" sz="1000" i="1" dirty="0">
                <a:solidFill>
                  <a:srgbClr val="2A2A2A"/>
                </a:solidFill>
                <a:latin typeface="Arial" pitchFamily="34" charset="0"/>
                <a:ea typeface="Arial" pitchFamily="34" charset="-122"/>
                <a:cs typeface="Arial" pitchFamily="34" charset="-120"/>
              </a:rPr>
              <a:t>Addressable savings via structured analysis</a:t>
            </a:r>
            <a:endParaRPr lang="en-US" sz="1000" dirty="0"/>
          </a:p>
        </p:txBody>
      </p:sp>
      <p:sp>
        <p:nvSpPr>
          <p:cNvPr id="8" name="Shape 6"/>
          <p:cNvSpPr/>
          <p:nvPr/>
        </p:nvSpPr>
        <p:spPr>
          <a:xfrm>
            <a:off x="731520" y="2194560"/>
            <a:ext cx="7680960" cy="868680"/>
          </a:xfrm>
          <a:prstGeom prst="rect">
            <a:avLst/>
          </a:prstGeom>
          <a:solidFill>
            <a:srgbClr val="F0F0F0"/>
          </a:solidFill>
          <a:ln/>
        </p:spPr>
      </p:sp>
      <p:sp>
        <p:nvSpPr>
          <p:cNvPr id="9" name="Text 7"/>
          <p:cNvSpPr/>
          <p:nvPr/>
        </p:nvSpPr>
        <p:spPr>
          <a:xfrm>
            <a:off x="914400" y="2267712"/>
            <a:ext cx="2926080" cy="27432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Time to Identify Opportunity</a:t>
            </a:r>
            <a:endParaRPr lang="en-US" sz="1100" dirty="0"/>
          </a:p>
        </p:txBody>
      </p:sp>
      <p:sp>
        <p:nvSpPr>
          <p:cNvPr id="10" name="Text 8"/>
          <p:cNvSpPr/>
          <p:nvPr/>
        </p:nvSpPr>
        <p:spPr>
          <a:xfrm>
            <a:off x="914400" y="2578608"/>
            <a:ext cx="2926080" cy="320040"/>
          </a:xfrm>
          <a:prstGeom prst="rect">
            <a:avLst/>
          </a:prstGeom>
          <a:noFill/>
          <a:ln/>
        </p:spPr>
        <p:txBody>
          <a:bodyPr wrap="square" rtlCol="0" anchor="ctr"/>
          <a:lstStyle/>
          <a:p>
            <a:pPr indent="0" marL="0">
              <a:buNone/>
            </a:pPr>
            <a:r>
              <a:rPr lang="en-US" sz="1800" b="1" dirty="0">
                <a:solidFill>
                  <a:srgbClr val="00A651"/>
                </a:solidFill>
                <a:latin typeface="Arial" pitchFamily="34" charset="0"/>
                <a:ea typeface="Arial" pitchFamily="34" charset="-122"/>
                <a:cs typeface="Arial" pitchFamily="34" charset="-120"/>
              </a:rPr>
              <a:t>12 weeks</a:t>
            </a:r>
            <a:endParaRPr lang="en-US" sz="1800" dirty="0"/>
          </a:p>
        </p:txBody>
      </p:sp>
      <p:sp>
        <p:nvSpPr>
          <p:cNvPr id="11" name="Text 9"/>
          <p:cNvSpPr/>
          <p:nvPr/>
        </p:nvSpPr>
        <p:spPr>
          <a:xfrm>
            <a:off x="3931920" y="2331720"/>
            <a:ext cx="4480560" cy="594360"/>
          </a:xfrm>
          <a:prstGeom prst="rect">
            <a:avLst/>
          </a:prstGeom>
          <a:noFill/>
          <a:ln/>
        </p:spPr>
        <p:txBody>
          <a:bodyPr wrap="square" rtlCol="0" anchor="ctr"/>
          <a:lstStyle/>
          <a:p>
            <a:pPr indent="0" marL="0">
              <a:buNone/>
            </a:pPr>
            <a:r>
              <a:rPr lang="en-US" sz="1000" i="1" dirty="0">
                <a:solidFill>
                  <a:srgbClr val="2A2A2A"/>
                </a:solidFill>
                <a:latin typeface="Arial" pitchFamily="34" charset="0"/>
                <a:ea typeface="Arial" pitchFamily="34" charset="-122"/>
                <a:cs typeface="Arial" pitchFamily="34" charset="-120"/>
              </a:rPr>
              <a:t>Traditional consulting engagement cycle</a:t>
            </a:r>
            <a:endParaRPr lang="en-US" sz="1000" dirty="0"/>
          </a:p>
        </p:txBody>
      </p:sp>
      <p:sp>
        <p:nvSpPr>
          <p:cNvPr id="12" name="Shape 10"/>
          <p:cNvSpPr/>
          <p:nvPr/>
        </p:nvSpPr>
        <p:spPr>
          <a:xfrm>
            <a:off x="731520" y="3200400"/>
            <a:ext cx="7680960" cy="868680"/>
          </a:xfrm>
          <a:prstGeom prst="rect">
            <a:avLst/>
          </a:prstGeom>
          <a:solidFill>
            <a:srgbClr val="F0F0F0"/>
          </a:solidFill>
          <a:ln/>
        </p:spPr>
      </p:sp>
      <p:sp>
        <p:nvSpPr>
          <p:cNvPr id="13" name="Text 11"/>
          <p:cNvSpPr/>
          <p:nvPr/>
        </p:nvSpPr>
        <p:spPr>
          <a:xfrm>
            <a:off x="914400" y="3273552"/>
            <a:ext cx="2926080" cy="27432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Cost Per Analysis Cycle</a:t>
            </a:r>
            <a:endParaRPr lang="en-US" sz="1100" dirty="0"/>
          </a:p>
        </p:txBody>
      </p:sp>
      <p:sp>
        <p:nvSpPr>
          <p:cNvPr id="14" name="Text 12"/>
          <p:cNvSpPr/>
          <p:nvPr/>
        </p:nvSpPr>
        <p:spPr>
          <a:xfrm>
            <a:off x="914400" y="3584448"/>
            <a:ext cx="2926080" cy="320040"/>
          </a:xfrm>
          <a:prstGeom prst="rect">
            <a:avLst/>
          </a:prstGeom>
          <a:noFill/>
          <a:ln/>
        </p:spPr>
        <p:txBody>
          <a:bodyPr wrap="square" rtlCol="0" anchor="ctr"/>
          <a:lstStyle/>
          <a:p>
            <a:pPr indent="0" marL="0">
              <a:buNone/>
            </a:pPr>
            <a:r>
              <a:rPr lang="en-US" sz="1800" b="1" dirty="0">
                <a:solidFill>
                  <a:srgbClr val="00A651"/>
                </a:solidFill>
                <a:latin typeface="Arial" pitchFamily="34" charset="0"/>
                <a:ea typeface="Arial" pitchFamily="34" charset="-122"/>
                <a:cs typeface="Arial" pitchFamily="34" charset="-120"/>
              </a:rPr>
              <a:t>$800K–$2M</a:t>
            </a:r>
            <a:endParaRPr lang="en-US" sz="1800" dirty="0"/>
          </a:p>
        </p:txBody>
      </p:sp>
      <p:sp>
        <p:nvSpPr>
          <p:cNvPr id="15" name="Text 13"/>
          <p:cNvSpPr/>
          <p:nvPr/>
        </p:nvSpPr>
        <p:spPr>
          <a:xfrm>
            <a:off x="3931920" y="3337560"/>
            <a:ext cx="4480560" cy="594360"/>
          </a:xfrm>
          <a:prstGeom prst="rect">
            <a:avLst/>
          </a:prstGeom>
          <a:noFill/>
          <a:ln/>
        </p:spPr>
        <p:txBody>
          <a:bodyPr wrap="square" rtlCol="0" anchor="ctr"/>
          <a:lstStyle/>
          <a:p>
            <a:pPr indent="0" marL="0">
              <a:buNone/>
            </a:pPr>
            <a:r>
              <a:rPr lang="en-US" sz="1000" i="1" dirty="0">
                <a:solidFill>
                  <a:srgbClr val="2A2A2A"/>
                </a:solidFill>
                <a:latin typeface="Arial" pitchFamily="34" charset="0"/>
                <a:ea typeface="Arial" pitchFamily="34" charset="-122"/>
                <a:cs typeface="Arial" pitchFamily="34" charset="-120"/>
              </a:rPr>
              <a:t>External consulting retainer</a:t>
            </a:r>
            <a:endParaRPr lang="en-US" sz="1000" dirty="0"/>
          </a:p>
        </p:txBody>
      </p:sp>
      <p:sp>
        <p:nvSpPr>
          <p:cNvPr id="16" name="Shape 14"/>
          <p:cNvSpPr/>
          <p:nvPr/>
        </p:nvSpPr>
        <p:spPr>
          <a:xfrm>
            <a:off x="731520" y="4206240"/>
            <a:ext cx="7680960" cy="868680"/>
          </a:xfrm>
          <a:prstGeom prst="rect">
            <a:avLst/>
          </a:prstGeom>
          <a:solidFill>
            <a:srgbClr val="F0F0F0"/>
          </a:solidFill>
          <a:ln/>
        </p:spPr>
      </p:sp>
      <p:sp>
        <p:nvSpPr>
          <p:cNvPr id="17" name="Text 15"/>
          <p:cNvSpPr/>
          <p:nvPr/>
        </p:nvSpPr>
        <p:spPr>
          <a:xfrm>
            <a:off x="914400" y="4279392"/>
            <a:ext cx="2926080" cy="27432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Institutional Knowledge Retention</a:t>
            </a:r>
            <a:endParaRPr lang="en-US" sz="1100" dirty="0"/>
          </a:p>
        </p:txBody>
      </p:sp>
      <p:sp>
        <p:nvSpPr>
          <p:cNvPr id="18" name="Text 16"/>
          <p:cNvSpPr/>
          <p:nvPr/>
        </p:nvSpPr>
        <p:spPr>
          <a:xfrm>
            <a:off x="914400" y="4590288"/>
            <a:ext cx="2926080" cy="320040"/>
          </a:xfrm>
          <a:prstGeom prst="rect">
            <a:avLst/>
          </a:prstGeom>
          <a:noFill/>
          <a:ln/>
        </p:spPr>
        <p:txBody>
          <a:bodyPr wrap="square" rtlCol="0" anchor="ctr"/>
          <a:lstStyle/>
          <a:p>
            <a:pPr indent="0" marL="0">
              <a:buNone/>
            </a:pPr>
            <a:r>
              <a:rPr lang="en-US" sz="1800" b="1" dirty="0">
                <a:solidFill>
                  <a:srgbClr val="00A651"/>
                </a:solidFill>
                <a:latin typeface="Arial" pitchFamily="34" charset="0"/>
                <a:ea typeface="Arial" pitchFamily="34" charset="-122"/>
                <a:cs typeface="Arial" pitchFamily="34" charset="-120"/>
              </a:rPr>
              <a:t>0%</a:t>
            </a:r>
            <a:endParaRPr lang="en-US" sz="1800" dirty="0"/>
          </a:p>
        </p:txBody>
      </p:sp>
      <p:sp>
        <p:nvSpPr>
          <p:cNvPr id="19" name="Text 17"/>
          <p:cNvSpPr/>
          <p:nvPr/>
        </p:nvSpPr>
        <p:spPr>
          <a:xfrm>
            <a:off x="3931920" y="4343400"/>
            <a:ext cx="4480560" cy="594360"/>
          </a:xfrm>
          <a:prstGeom prst="rect">
            <a:avLst/>
          </a:prstGeom>
          <a:noFill/>
          <a:ln/>
        </p:spPr>
        <p:txBody>
          <a:bodyPr wrap="square" rtlCol="0" anchor="ctr"/>
          <a:lstStyle/>
          <a:p>
            <a:pPr indent="0" marL="0">
              <a:buNone/>
            </a:pPr>
            <a:r>
              <a:rPr lang="en-US" sz="1000" i="1" dirty="0">
                <a:solidFill>
                  <a:srgbClr val="2A2A2A"/>
                </a:solidFill>
                <a:latin typeface="Arial" pitchFamily="34" charset="0"/>
                <a:ea typeface="Arial" pitchFamily="34" charset="-122"/>
                <a:cs typeface="Arial" pitchFamily="34" charset="-120"/>
              </a:rPr>
              <a:t>Findings rarely transfer to next initiative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365760"/>
            <a:ext cx="7680960" cy="548640"/>
          </a:xfrm>
          <a:prstGeom prst="rect">
            <a:avLst/>
          </a:prstGeom>
          <a:noFill/>
          <a:ln/>
        </p:spPr>
        <p:txBody>
          <a:bodyPr wrap="square" rtlCol="0" anchor="ctr"/>
          <a:lstStyle/>
          <a:p>
            <a:pPr indent="0" marL="0">
              <a:buNone/>
            </a:pPr>
            <a:r>
              <a:rPr lang="en-US" sz="3200" b="1" dirty="0">
                <a:solidFill>
                  <a:srgbClr val="003D7A"/>
                </a:solidFill>
                <a:latin typeface="Arial" pitchFamily="34" charset="0"/>
                <a:ea typeface="Arial" pitchFamily="34" charset="-122"/>
                <a:cs typeface="Arial" pitchFamily="34" charset="-120"/>
              </a:rPr>
              <a:t>The Value Lever Framework</a:t>
            </a:r>
            <a:endParaRPr lang="en-US" sz="3200" dirty="0"/>
          </a:p>
        </p:txBody>
      </p:sp>
      <p:sp>
        <p:nvSpPr>
          <p:cNvPr id="4" name="Text 2"/>
          <p:cNvSpPr/>
          <p:nvPr/>
        </p:nvSpPr>
        <p:spPr>
          <a:xfrm>
            <a:off x="731520" y="1005840"/>
            <a:ext cx="7680960" cy="274320"/>
          </a:xfrm>
          <a:prstGeom prst="rect">
            <a:avLst/>
          </a:prstGeom>
          <a:noFill/>
          <a:ln/>
        </p:spPr>
        <p:txBody>
          <a:bodyPr wrap="square" rtlCol="0" anchor="ctr"/>
          <a:lstStyle/>
          <a:p>
            <a:pPr indent="0" marL="0">
              <a:buNone/>
            </a:pPr>
            <a:r>
              <a:rPr lang="en-US" sz="1200" i="1" dirty="0">
                <a:solidFill>
                  <a:srgbClr val="2A2A2A"/>
                </a:solidFill>
                <a:latin typeface="Arial" pitchFamily="34" charset="0"/>
                <a:ea typeface="Arial" pitchFamily="34" charset="-122"/>
                <a:cs typeface="Arial" pitchFamily="34" charset="-120"/>
              </a:rPr>
              <a:t>Six systematic levers for capturing OpEx value across all spend categories</a:t>
            </a:r>
            <a:endParaRPr lang="en-US" sz="1200" dirty="0"/>
          </a:p>
        </p:txBody>
      </p:sp>
      <p:sp>
        <p:nvSpPr>
          <p:cNvPr id="5" name="Shape 3"/>
          <p:cNvSpPr/>
          <p:nvPr/>
        </p:nvSpPr>
        <p:spPr>
          <a:xfrm>
            <a:off x="731520" y="1463040"/>
            <a:ext cx="4114800" cy="1280160"/>
          </a:xfrm>
          <a:prstGeom prst="rect">
            <a:avLst/>
          </a:prstGeom>
          <a:solidFill>
            <a:srgbClr val="F0F0F0"/>
          </a:solidFill>
          <a:ln w="12700">
            <a:solidFill>
              <a:srgbClr val="00A651"/>
            </a:solidFill>
            <a:prstDash val="solid"/>
          </a:ln>
        </p:spPr>
      </p:sp>
      <p:sp>
        <p:nvSpPr>
          <p:cNvPr id="6" name="Text 4"/>
          <p:cNvSpPr/>
          <p:nvPr/>
        </p:nvSpPr>
        <p:spPr>
          <a:xfrm>
            <a:off x="868680" y="1554480"/>
            <a:ext cx="3840480" cy="22860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Cost Reduction</a:t>
            </a:r>
            <a:endParaRPr lang="en-US" sz="1100" dirty="0"/>
          </a:p>
        </p:txBody>
      </p:sp>
      <p:sp>
        <p:nvSpPr>
          <p:cNvPr id="7" name="Text 5"/>
          <p:cNvSpPr/>
          <p:nvPr/>
        </p:nvSpPr>
        <p:spPr>
          <a:xfrm>
            <a:off x="868680" y="1828800"/>
            <a:ext cx="3840480" cy="365760"/>
          </a:xfrm>
          <a:prstGeom prst="rect">
            <a:avLst/>
          </a:prstGeom>
          <a:noFill/>
          <a:ln/>
        </p:spPr>
        <p:txBody>
          <a:bodyPr wrap="square" rtlCol="0" anchor="ctr"/>
          <a:lstStyle/>
          <a:p>
            <a:pPr indent="0" marL="0">
              <a:buNone/>
            </a:pPr>
            <a:r>
              <a:rPr lang="en-US" sz="800" dirty="0">
                <a:solidFill>
                  <a:srgbClr val="1A1A1A"/>
                </a:solidFill>
                <a:latin typeface="Arial" pitchFamily="34" charset="0"/>
                <a:ea typeface="Arial" pitchFamily="34" charset="-122"/>
                <a:cs typeface="Arial" pitchFamily="34" charset="-120"/>
              </a:rPr>
              <a:t>Rate negotiation, volume discounts, competitive bidding, contract optimization</a:t>
            </a:r>
            <a:endParaRPr lang="en-US" sz="800" dirty="0"/>
          </a:p>
        </p:txBody>
      </p:sp>
      <p:sp>
        <p:nvSpPr>
          <p:cNvPr id="8" name="Text 6"/>
          <p:cNvSpPr/>
          <p:nvPr/>
        </p:nvSpPr>
        <p:spPr>
          <a:xfrm>
            <a:off x="868680" y="2240280"/>
            <a:ext cx="3840480" cy="365760"/>
          </a:xfrm>
          <a:prstGeom prst="rect">
            <a:avLst/>
          </a:prstGeom>
          <a:noFill/>
          <a:ln/>
        </p:spPr>
        <p:txBody>
          <a:bodyPr wrap="square" rtlCol="0" anchor="ctr"/>
          <a:lstStyle/>
          <a:p>
            <a:pPr indent="0" marL="0">
              <a:buNone/>
            </a:pPr>
            <a:r>
              <a:rPr lang="en-US" sz="800" b="1" i="1" dirty="0">
                <a:solidFill>
                  <a:srgbClr val="E8853C"/>
                </a:solidFill>
                <a:latin typeface="Arial" pitchFamily="34" charset="0"/>
                <a:ea typeface="Arial" pitchFamily="34" charset="-122"/>
                <a:cs typeface="Arial" pitchFamily="34" charset="-120"/>
              </a:rPr>
              <a:t>IT vendor renegotiation: 8–12% savings</a:t>
            </a:r>
            <a:endParaRPr lang="en-US" sz="800" dirty="0"/>
          </a:p>
        </p:txBody>
      </p:sp>
      <p:sp>
        <p:nvSpPr>
          <p:cNvPr id="9" name="Shape 7"/>
          <p:cNvSpPr/>
          <p:nvPr/>
        </p:nvSpPr>
        <p:spPr>
          <a:xfrm>
            <a:off x="5120640" y="1463040"/>
            <a:ext cx="4114800" cy="1280160"/>
          </a:xfrm>
          <a:prstGeom prst="rect">
            <a:avLst/>
          </a:prstGeom>
          <a:solidFill>
            <a:srgbClr val="FFFFFF"/>
          </a:solidFill>
          <a:ln w="12700">
            <a:solidFill>
              <a:srgbClr val="00A651"/>
            </a:solidFill>
            <a:prstDash val="solid"/>
          </a:ln>
        </p:spPr>
      </p:sp>
      <p:sp>
        <p:nvSpPr>
          <p:cNvPr id="10" name="Text 8"/>
          <p:cNvSpPr/>
          <p:nvPr/>
        </p:nvSpPr>
        <p:spPr>
          <a:xfrm>
            <a:off x="5257800" y="1554480"/>
            <a:ext cx="3840480" cy="22860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Consolidation</a:t>
            </a:r>
            <a:endParaRPr lang="en-US" sz="1100" dirty="0"/>
          </a:p>
        </p:txBody>
      </p:sp>
      <p:sp>
        <p:nvSpPr>
          <p:cNvPr id="11" name="Text 9"/>
          <p:cNvSpPr/>
          <p:nvPr/>
        </p:nvSpPr>
        <p:spPr>
          <a:xfrm>
            <a:off x="5257800" y="1828800"/>
            <a:ext cx="3840480" cy="365760"/>
          </a:xfrm>
          <a:prstGeom prst="rect">
            <a:avLst/>
          </a:prstGeom>
          <a:noFill/>
          <a:ln/>
        </p:spPr>
        <p:txBody>
          <a:bodyPr wrap="square" rtlCol="0" anchor="ctr"/>
          <a:lstStyle/>
          <a:p>
            <a:pPr indent="0" marL="0">
              <a:buNone/>
            </a:pPr>
            <a:r>
              <a:rPr lang="en-US" sz="800" dirty="0">
                <a:solidFill>
                  <a:srgbClr val="1A1A1A"/>
                </a:solidFill>
                <a:latin typeface="Arial" pitchFamily="34" charset="0"/>
                <a:ea typeface="Arial" pitchFamily="34" charset="-122"/>
                <a:cs typeface="Arial" pitchFamily="34" charset="-120"/>
              </a:rPr>
              <a:t>Supplier rationalization, multi-vendor to preferred-provider models, category standardization</a:t>
            </a:r>
            <a:endParaRPr lang="en-US" sz="800" dirty="0"/>
          </a:p>
        </p:txBody>
      </p:sp>
      <p:sp>
        <p:nvSpPr>
          <p:cNvPr id="12" name="Text 10"/>
          <p:cNvSpPr/>
          <p:nvPr/>
        </p:nvSpPr>
        <p:spPr>
          <a:xfrm>
            <a:off x="5257800" y="2240280"/>
            <a:ext cx="3840480" cy="365760"/>
          </a:xfrm>
          <a:prstGeom prst="rect">
            <a:avLst/>
          </a:prstGeom>
          <a:noFill/>
          <a:ln/>
        </p:spPr>
        <p:txBody>
          <a:bodyPr wrap="square" rtlCol="0" anchor="ctr"/>
          <a:lstStyle/>
          <a:p>
            <a:pPr indent="0" marL="0">
              <a:buNone/>
            </a:pPr>
            <a:r>
              <a:rPr lang="en-US" sz="800" b="1" i="1" dirty="0">
                <a:solidFill>
                  <a:srgbClr val="E8853C"/>
                </a:solidFill>
                <a:latin typeface="Arial" pitchFamily="34" charset="0"/>
                <a:ea typeface="Arial" pitchFamily="34" charset="-122"/>
                <a:cs typeface="Arial" pitchFamily="34" charset="-120"/>
              </a:rPr>
              <a:t>Travel agency consolidation: 6–10% savings</a:t>
            </a:r>
            <a:endParaRPr lang="en-US" sz="800" dirty="0"/>
          </a:p>
        </p:txBody>
      </p:sp>
      <p:sp>
        <p:nvSpPr>
          <p:cNvPr id="13" name="Shape 11"/>
          <p:cNvSpPr/>
          <p:nvPr/>
        </p:nvSpPr>
        <p:spPr>
          <a:xfrm>
            <a:off x="731520" y="3017520"/>
            <a:ext cx="4114800" cy="1280160"/>
          </a:xfrm>
          <a:prstGeom prst="rect">
            <a:avLst/>
          </a:prstGeom>
          <a:solidFill>
            <a:srgbClr val="F0F0F0"/>
          </a:solidFill>
          <a:ln w="12700">
            <a:solidFill>
              <a:srgbClr val="00A651"/>
            </a:solidFill>
            <a:prstDash val="solid"/>
          </a:ln>
        </p:spPr>
      </p:sp>
      <p:sp>
        <p:nvSpPr>
          <p:cNvPr id="14" name="Text 12"/>
          <p:cNvSpPr/>
          <p:nvPr/>
        </p:nvSpPr>
        <p:spPr>
          <a:xfrm>
            <a:off x="868680" y="3108960"/>
            <a:ext cx="3840480" cy="22860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Process Optimization</a:t>
            </a:r>
            <a:endParaRPr lang="en-US" sz="1100" dirty="0"/>
          </a:p>
        </p:txBody>
      </p:sp>
      <p:sp>
        <p:nvSpPr>
          <p:cNvPr id="15" name="Text 13"/>
          <p:cNvSpPr/>
          <p:nvPr/>
        </p:nvSpPr>
        <p:spPr>
          <a:xfrm>
            <a:off x="868680" y="3383280"/>
            <a:ext cx="3840480" cy="365760"/>
          </a:xfrm>
          <a:prstGeom prst="rect">
            <a:avLst/>
          </a:prstGeom>
          <a:noFill/>
          <a:ln/>
        </p:spPr>
        <p:txBody>
          <a:bodyPr wrap="square" rtlCol="0" anchor="ctr"/>
          <a:lstStyle/>
          <a:p>
            <a:pPr indent="0" marL="0">
              <a:buNone/>
            </a:pPr>
            <a:r>
              <a:rPr lang="en-US" sz="800" dirty="0">
                <a:solidFill>
                  <a:srgbClr val="1A1A1A"/>
                </a:solidFill>
                <a:latin typeface="Arial" pitchFamily="34" charset="0"/>
                <a:ea typeface="Arial" pitchFamily="34" charset="-122"/>
                <a:cs typeface="Arial" pitchFamily="34" charset="-120"/>
              </a:rPr>
              <a:t>Automation, workflow redesign, eliminate waste, policy tightening, internal process improvements</a:t>
            </a:r>
            <a:endParaRPr lang="en-US" sz="800" dirty="0"/>
          </a:p>
        </p:txBody>
      </p:sp>
      <p:sp>
        <p:nvSpPr>
          <p:cNvPr id="16" name="Text 14"/>
          <p:cNvSpPr/>
          <p:nvPr/>
        </p:nvSpPr>
        <p:spPr>
          <a:xfrm>
            <a:off x="868680" y="3794760"/>
            <a:ext cx="3840480" cy="365760"/>
          </a:xfrm>
          <a:prstGeom prst="rect">
            <a:avLst/>
          </a:prstGeom>
          <a:noFill/>
          <a:ln/>
        </p:spPr>
        <p:txBody>
          <a:bodyPr wrap="square" rtlCol="0" anchor="ctr"/>
          <a:lstStyle/>
          <a:p>
            <a:pPr indent="0" marL="0">
              <a:buNone/>
            </a:pPr>
            <a:r>
              <a:rPr lang="en-US" sz="800" b="1" i="1" dirty="0">
                <a:solidFill>
                  <a:srgbClr val="E8853C"/>
                </a:solidFill>
                <a:latin typeface="Arial" pitchFamily="34" charset="0"/>
                <a:ea typeface="Arial" pitchFamily="34" charset="-122"/>
                <a:cs typeface="Arial" pitchFamily="34" charset="-120"/>
              </a:rPr>
              <a:t>Expense policy enforcement: 5–8% savings</a:t>
            </a:r>
            <a:endParaRPr lang="en-US" sz="800" dirty="0"/>
          </a:p>
        </p:txBody>
      </p:sp>
      <p:sp>
        <p:nvSpPr>
          <p:cNvPr id="17" name="Shape 15"/>
          <p:cNvSpPr/>
          <p:nvPr/>
        </p:nvSpPr>
        <p:spPr>
          <a:xfrm>
            <a:off x="5120640" y="3017520"/>
            <a:ext cx="4114800" cy="1280160"/>
          </a:xfrm>
          <a:prstGeom prst="rect">
            <a:avLst/>
          </a:prstGeom>
          <a:solidFill>
            <a:srgbClr val="FFFFFF"/>
          </a:solidFill>
          <a:ln w="12700">
            <a:solidFill>
              <a:srgbClr val="00A651"/>
            </a:solidFill>
            <a:prstDash val="solid"/>
          </a:ln>
        </p:spPr>
      </p:sp>
      <p:sp>
        <p:nvSpPr>
          <p:cNvPr id="18" name="Text 16"/>
          <p:cNvSpPr/>
          <p:nvPr/>
        </p:nvSpPr>
        <p:spPr>
          <a:xfrm>
            <a:off x="5257800" y="3108960"/>
            <a:ext cx="3840480" cy="22860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Make vs. Buy Analysis</a:t>
            </a:r>
            <a:endParaRPr lang="en-US" sz="1100" dirty="0"/>
          </a:p>
        </p:txBody>
      </p:sp>
      <p:sp>
        <p:nvSpPr>
          <p:cNvPr id="19" name="Text 17"/>
          <p:cNvSpPr/>
          <p:nvPr/>
        </p:nvSpPr>
        <p:spPr>
          <a:xfrm>
            <a:off x="5257800" y="3383280"/>
            <a:ext cx="3840480" cy="365760"/>
          </a:xfrm>
          <a:prstGeom prst="rect">
            <a:avLst/>
          </a:prstGeom>
          <a:noFill/>
          <a:ln/>
        </p:spPr>
        <p:txBody>
          <a:bodyPr wrap="square" rtlCol="0" anchor="ctr"/>
          <a:lstStyle/>
          <a:p>
            <a:pPr indent="0" marL="0">
              <a:buNone/>
            </a:pPr>
            <a:r>
              <a:rPr lang="en-US" sz="800" dirty="0">
                <a:solidFill>
                  <a:srgbClr val="1A1A1A"/>
                </a:solidFill>
                <a:latin typeface="Arial" pitchFamily="34" charset="0"/>
                <a:ea typeface="Arial" pitchFamily="34" charset="-122"/>
                <a:cs typeface="Arial" pitchFamily="34" charset="-120"/>
              </a:rPr>
              <a:t>Insourcing contractor roles, building vs. outsourcing, FTE conversion opportunities</a:t>
            </a:r>
            <a:endParaRPr lang="en-US" sz="800" dirty="0"/>
          </a:p>
        </p:txBody>
      </p:sp>
      <p:sp>
        <p:nvSpPr>
          <p:cNvPr id="20" name="Text 18"/>
          <p:cNvSpPr/>
          <p:nvPr/>
        </p:nvSpPr>
        <p:spPr>
          <a:xfrm>
            <a:off x="5257800" y="3794760"/>
            <a:ext cx="3840480" cy="365760"/>
          </a:xfrm>
          <a:prstGeom prst="rect">
            <a:avLst/>
          </a:prstGeom>
          <a:noFill/>
          <a:ln/>
        </p:spPr>
        <p:txBody>
          <a:bodyPr wrap="square" rtlCol="0" anchor="ctr"/>
          <a:lstStyle/>
          <a:p>
            <a:pPr indent="0" marL="0">
              <a:buNone/>
            </a:pPr>
            <a:r>
              <a:rPr lang="en-US" sz="800" b="1" i="1" dirty="0">
                <a:solidFill>
                  <a:srgbClr val="E8853C"/>
                </a:solidFill>
                <a:latin typeface="Arial" pitchFamily="34" charset="0"/>
                <a:ea typeface="Arial" pitchFamily="34" charset="-122"/>
                <a:cs typeface="Arial" pitchFamily="34" charset="-120"/>
              </a:rPr>
              <a:t>Contractor-to-FTE conversion: 12–18% savings</a:t>
            </a:r>
            <a:endParaRPr lang="en-US" sz="800" dirty="0"/>
          </a:p>
        </p:txBody>
      </p:sp>
      <p:sp>
        <p:nvSpPr>
          <p:cNvPr id="21" name="Shape 19"/>
          <p:cNvSpPr/>
          <p:nvPr/>
        </p:nvSpPr>
        <p:spPr>
          <a:xfrm>
            <a:off x="731520" y="4572000"/>
            <a:ext cx="4114800" cy="1280160"/>
          </a:xfrm>
          <a:prstGeom prst="rect">
            <a:avLst/>
          </a:prstGeom>
          <a:solidFill>
            <a:srgbClr val="F0F0F0"/>
          </a:solidFill>
          <a:ln w="12700">
            <a:solidFill>
              <a:srgbClr val="00A651"/>
            </a:solidFill>
            <a:prstDash val="solid"/>
          </a:ln>
        </p:spPr>
      </p:sp>
      <p:sp>
        <p:nvSpPr>
          <p:cNvPr id="22" name="Text 20"/>
          <p:cNvSpPr/>
          <p:nvPr/>
        </p:nvSpPr>
        <p:spPr>
          <a:xfrm>
            <a:off x="868680" y="4663440"/>
            <a:ext cx="3840480" cy="22860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Working Capital Release</a:t>
            </a:r>
            <a:endParaRPr lang="en-US" sz="1100" dirty="0"/>
          </a:p>
        </p:txBody>
      </p:sp>
      <p:sp>
        <p:nvSpPr>
          <p:cNvPr id="23" name="Text 21"/>
          <p:cNvSpPr/>
          <p:nvPr/>
        </p:nvSpPr>
        <p:spPr>
          <a:xfrm>
            <a:off x="868680" y="4937760"/>
            <a:ext cx="3840480" cy="365760"/>
          </a:xfrm>
          <a:prstGeom prst="rect">
            <a:avLst/>
          </a:prstGeom>
          <a:noFill/>
          <a:ln/>
        </p:spPr>
        <p:txBody>
          <a:bodyPr wrap="square" rtlCol="0" anchor="ctr"/>
          <a:lstStyle/>
          <a:p>
            <a:pPr indent="0" marL="0">
              <a:buNone/>
            </a:pPr>
            <a:r>
              <a:rPr lang="en-US" sz="800" dirty="0">
                <a:solidFill>
                  <a:srgbClr val="1A1A1A"/>
                </a:solidFill>
                <a:latin typeface="Arial" pitchFamily="34" charset="0"/>
                <a:ea typeface="Arial" pitchFamily="34" charset="-122"/>
                <a:cs typeface="Arial" pitchFamily="34" charset="-120"/>
              </a:rPr>
              <a:t>Payment terms extension, DPO optimization, cash conversion cycle improvement</a:t>
            </a:r>
            <a:endParaRPr lang="en-US" sz="800" dirty="0"/>
          </a:p>
        </p:txBody>
      </p:sp>
      <p:sp>
        <p:nvSpPr>
          <p:cNvPr id="24" name="Text 22"/>
          <p:cNvSpPr/>
          <p:nvPr/>
        </p:nvSpPr>
        <p:spPr>
          <a:xfrm>
            <a:off x="868680" y="5349240"/>
            <a:ext cx="3840480" cy="365760"/>
          </a:xfrm>
          <a:prstGeom prst="rect">
            <a:avLst/>
          </a:prstGeom>
          <a:noFill/>
          <a:ln/>
        </p:spPr>
        <p:txBody>
          <a:bodyPr wrap="square" rtlCol="0" anchor="ctr"/>
          <a:lstStyle/>
          <a:p>
            <a:pPr indent="0" marL="0">
              <a:buNone/>
            </a:pPr>
            <a:r>
              <a:rPr lang="en-US" sz="800" b="1" i="1" dirty="0">
                <a:solidFill>
                  <a:srgbClr val="E8853C"/>
                </a:solidFill>
                <a:latin typeface="Arial" pitchFamily="34" charset="0"/>
                <a:ea typeface="Arial" pitchFamily="34" charset="-122"/>
                <a:cs typeface="Arial" pitchFamily="34" charset="-120"/>
              </a:rPr>
              <a:t>Payment terms: $2–5M one-time cash release</a:t>
            </a:r>
            <a:endParaRPr lang="en-US" sz="800" dirty="0"/>
          </a:p>
        </p:txBody>
      </p:sp>
      <p:sp>
        <p:nvSpPr>
          <p:cNvPr id="25" name="Shape 23"/>
          <p:cNvSpPr/>
          <p:nvPr/>
        </p:nvSpPr>
        <p:spPr>
          <a:xfrm>
            <a:off x="5120640" y="4572000"/>
            <a:ext cx="4114800" cy="1280160"/>
          </a:xfrm>
          <a:prstGeom prst="rect">
            <a:avLst/>
          </a:prstGeom>
          <a:solidFill>
            <a:srgbClr val="FFFFFF"/>
          </a:solidFill>
          <a:ln w="12700">
            <a:solidFill>
              <a:srgbClr val="00A651"/>
            </a:solidFill>
            <a:prstDash val="solid"/>
          </a:ln>
        </p:spPr>
      </p:sp>
      <p:sp>
        <p:nvSpPr>
          <p:cNvPr id="26" name="Text 24"/>
          <p:cNvSpPr/>
          <p:nvPr/>
        </p:nvSpPr>
        <p:spPr>
          <a:xfrm>
            <a:off x="5257800" y="4663440"/>
            <a:ext cx="3840480" cy="22860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Category Mix Shift</a:t>
            </a:r>
            <a:endParaRPr lang="en-US" sz="1100" dirty="0"/>
          </a:p>
        </p:txBody>
      </p:sp>
      <p:sp>
        <p:nvSpPr>
          <p:cNvPr id="27" name="Text 25"/>
          <p:cNvSpPr/>
          <p:nvPr/>
        </p:nvSpPr>
        <p:spPr>
          <a:xfrm>
            <a:off x="5257800" y="4937760"/>
            <a:ext cx="3840480" cy="365760"/>
          </a:xfrm>
          <a:prstGeom prst="rect">
            <a:avLst/>
          </a:prstGeom>
          <a:noFill/>
          <a:ln/>
        </p:spPr>
        <p:txBody>
          <a:bodyPr wrap="square" rtlCol="0" anchor="ctr"/>
          <a:lstStyle/>
          <a:p>
            <a:pPr indent="0" marL="0">
              <a:buNone/>
            </a:pPr>
            <a:r>
              <a:rPr lang="en-US" sz="800" dirty="0">
                <a:solidFill>
                  <a:srgbClr val="1A1A1A"/>
                </a:solidFill>
                <a:latin typeface="Arial" pitchFamily="34" charset="0"/>
                <a:ea typeface="Arial" pitchFamily="34" charset="-122"/>
                <a:cs typeface="Arial" pitchFamily="34" charset="-120"/>
              </a:rPr>
              <a:t>Service/product mix rebalancing, channel shift, demand pattern optimization</a:t>
            </a:r>
            <a:endParaRPr lang="en-US" sz="800" dirty="0"/>
          </a:p>
        </p:txBody>
      </p:sp>
      <p:sp>
        <p:nvSpPr>
          <p:cNvPr id="28" name="Text 26"/>
          <p:cNvSpPr/>
          <p:nvPr/>
        </p:nvSpPr>
        <p:spPr>
          <a:xfrm>
            <a:off x="5257800" y="5349240"/>
            <a:ext cx="3840480" cy="365760"/>
          </a:xfrm>
          <a:prstGeom prst="rect">
            <a:avLst/>
          </a:prstGeom>
          <a:noFill/>
          <a:ln/>
        </p:spPr>
        <p:txBody>
          <a:bodyPr wrap="square" rtlCol="0" anchor="ctr"/>
          <a:lstStyle/>
          <a:p>
            <a:pPr indent="0" marL="0">
              <a:buNone/>
            </a:pPr>
            <a:r>
              <a:rPr lang="en-US" sz="800" b="1" i="1" dirty="0">
                <a:solidFill>
                  <a:srgbClr val="E8853C"/>
                </a:solidFill>
                <a:latin typeface="Arial" pitchFamily="34" charset="0"/>
                <a:ea typeface="Arial" pitchFamily="34" charset="-122"/>
                <a:cs typeface="Arial" pitchFamily="34" charset="-120"/>
              </a:rPr>
              <a:t>Marketing digital shift: 10–15% savings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365760"/>
            <a:ext cx="7680960" cy="548640"/>
          </a:xfrm>
          <a:prstGeom prst="rect">
            <a:avLst/>
          </a:prstGeom>
          <a:noFill/>
          <a:ln/>
        </p:spPr>
        <p:txBody>
          <a:bodyPr wrap="square" rtlCol="0" anchor="ctr"/>
          <a:lstStyle/>
          <a:p>
            <a:pPr indent="0" marL="0">
              <a:buNone/>
            </a:pPr>
            <a:r>
              <a:rPr lang="en-US" sz="3200" b="1" dirty="0">
                <a:solidFill>
                  <a:srgbClr val="003D7A"/>
                </a:solidFill>
                <a:latin typeface="Arial" pitchFamily="34" charset="0"/>
                <a:ea typeface="Arial" pitchFamily="34" charset="-122"/>
                <a:cs typeface="Arial" pitchFamily="34" charset="-120"/>
              </a:rPr>
              <a:t>Introducing: The Agentic OpEx Analyzer</a:t>
            </a:r>
            <a:endParaRPr lang="en-US" sz="3200" dirty="0"/>
          </a:p>
        </p:txBody>
      </p:sp>
      <p:sp>
        <p:nvSpPr>
          <p:cNvPr id="4" name="Text 2"/>
          <p:cNvSpPr/>
          <p:nvPr/>
        </p:nvSpPr>
        <p:spPr>
          <a:xfrm>
            <a:off x="731520" y="1005840"/>
            <a:ext cx="7680960" cy="274320"/>
          </a:xfrm>
          <a:prstGeom prst="rect">
            <a:avLst/>
          </a:prstGeom>
          <a:noFill/>
          <a:ln/>
        </p:spPr>
        <p:txBody>
          <a:bodyPr wrap="square" rtlCol="0" anchor="ctr"/>
          <a:lstStyle/>
          <a:p>
            <a:pPr indent="0" marL="0">
              <a:buNone/>
            </a:pPr>
            <a:r>
              <a:rPr lang="en-US" sz="1200" i="1" dirty="0">
                <a:solidFill>
                  <a:srgbClr val="2A2A2A"/>
                </a:solidFill>
                <a:latin typeface="Arial" pitchFamily="34" charset="0"/>
                <a:ea typeface="Arial" pitchFamily="34" charset="-122"/>
                <a:cs typeface="Arial" pitchFamily="34" charset="-120"/>
              </a:rPr>
              <a:t>Autonomous AI system that discovers, sizes, and prioritizes value lever opportunities</a:t>
            </a:r>
            <a:endParaRPr lang="en-US" sz="1200" dirty="0"/>
          </a:p>
        </p:txBody>
      </p:sp>
      <p:sp>
        <p:nvSpPr>
          <p:cNvPr id="5" name="Text 3"/>
          <p:cNvSpPr/>
          <p:nvPr/>
        </p:nvSpPr>
        <p:spPr>
          <a:xfrm>
            <a:off x="731520" y="1508760"/>
            <a:ext cx="457200" cy="365760"/>
          </a:xfrm>
          <a:prstGeom prst="rect">
            <a:avLst/>
          </a:prstGeom>
          <a:noFill/>
          <a:ln/>
        </p:spPr>
        <p:txBody>
          <a:bodyPr wrap="square" rtlCol="0" anchor="ctr"/>
          <a:lstStyle/>
          <a:p>
            <a:pP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6" name="Text 4"/>
          <p:cNvSpPr/>
          <p:nvPr/>
        </p:nvSpPr>
        <p:spPr>
          <a:xfrm>
            <a:off x="1371600" y="1554480"/>
            <a:ext cx="7040880" cy="228600"/>
          </a:xfrm>
          <a:prstGeom prst="rect">
            <a:avLst/>
          </a:prstGeom>
          <a:noFill/>
          <a:ln/>
        </p:spPr>
        <p:txBody>
          <a:bodyPr wrap="square" rtlCol="0" anchor="ctr"/>
          <a:lstStyle/>
          <a:p>
            <a:pPr indent="0" marL="0">
              <a:buNone/>
            </a:pPr>
            <a:r>
              <a:rPr lang="en-US" sz="1200" b="1" dirty="0">
                <a:solidFill>
                  <a:srgbClr val="003D7A"/>
                </a:solidFill>
                <a:latin typeface="Arial" pitchFamily="34" charset="0"/>
                <a:ea typeface="Arial" pitchFamily="34" charset="-122"/>
                <a:cs typeface="Arial" pitchFamily="34" charset="-120"/>
              </a:rPr>
              <a:t>AI-Driven Autonomy</a:t>
            </a:r>
            <a:endParaRPr lang="en-US" sz="1200" dirty="0"/>
          </a:p>
        </p:txBody>
      </p:sp>
      <p:sp>
        <p:nvSpPr>
          <p:cNvPr id="7" name="Text 5"/>
          <p:cNvSpPr/>
          <p:nvPr/>
        </p:nvSpPr>
        <p:spPr>
          <a:xfrm>
            <a:off x="1371600" y="1828800"/>
            <a:ext cx="7040880" cy="45720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Claude AI continuously analyzes spend patterns, identifies anomalies, surfaces hidden inefficiencies without human intervention</a:t>
            </a:r>
            <a:endParaRPr lang="en-US" sz="1000" dirty="0"/>
          </a:p>
        </p:txBody>
      </p:sp>
      <p:sp>
        <p:nvSpPr>
          <p:cNvPr id="8" name="Text 6"/>
          <p:cNvSpPr/>
          <p:nvPr/>
        </p:nvSpPr>
        <p:spPr>
          <a:xfrm>
            <a:off x="731520" y="2377440"/>
            <a:ext cx="457200" cy="365760"/>
          </a:xfrm>
          <a:prstGeom prst="rect">
            <a:avLst/>
          </a:prstGeom>
          <a:noFill/>
          <a:ln/>
        </p:spPr>
        <p:txBody>
          <a:bodyPr wrap="square" rtlCol="0" anchor="ctr"/>
          <a:lstStyle/>
          <a:p>
            <a:pP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9" name="Text 7"/>
          <p:cNvSpPr/>
          <p:nvPr/>
        </p:nvSpPr>
        <p:spPr>
          <a:xfrm>
            <a:off x="1371600" y="2423160"/>
            <a:ext cx="7040880" cy="228600"/>
          </a:xfrm>
          <a:prstGeom prst="rect">
            <a:avLst/>
          </a:prstGeom>
          <a:noFill/>
          <a:ln/>
        </p:spPr>
        <p:txBody>
          <a:bodyPr wrap="square" rtlCol="0" anchor="ctr"/>
          <a:lstStyle/>
          <a:p>
            <a:pPr indent="0" marL="0">
              <a:buNone/>
            </a:pPr>
            <a:r>
              <a:rPr lang="en-US" sz="1200" b="1" dirty="0">
                <a:solidFill>
                  <a:srgbClr val="003D7A"/>
                </a:solidFill>
                <a:latin typeface="Arial" pitchFamily="34" charset="0"/>
                <a:ea typeface="Arial" pitchFamily="34" charset="-122"/>
                <a:cs typeface="Arial" pitchFamily="34" charset="-120"/>
              </a:rPr>
              <a:t>Value Lever Decomposition</a:t>
            </a:r>
            <a:endParaRPr lang="en-US" sz="1200" dirty="0"/>
          </a:p>
        </p:txBody>
      </p:sp>
      <p:sp>
        <p:nvSpPr>
          <p:cNvPr id="10" name="Text 8"/>
          <p:cNvSpPr/>
          <p:nvPr/>
        </p:nvSpPr>
        <p:spPr>
          <a:xfrm>
            <a:off x="1371600" y="2697480"/>
            <a:ext cx="7040880" cy="45720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Automatically maps every spend category to applicable value levers. Quantifies opportunity per lever with confidence intervals</a:t>
            </a:r>
            <a:endParaRPr lang="en-US" sz="1000" dirty="0"/>
          </a:p>
        </p:txBody>
      </p:sp>
      <p:sp>
        <p:nvSpPr>
          <p:cNvPr id="11" name="Text 9"/>
          <p:cNvSpPr/>
          <p:nvPr/>
        </p:nvSpPr>
        <p:spPr>
          <a:xfrm>
            <a:off x="731520" y="3246120"/>
            <a:ext cx="457200" cy="365760"/>
          </a:xfrm>
          <a:prstGeom prst="rect">
            <a:avLst/>
          </a:prstGeom>
          <a:noFill/>
          <a:ln/>
        </p:spPr>
        <p:txBody>
          <a:bodyPr wrap="square" rtlCol="0" anchor="ctr"/>
          <a:lstStyle/>
          <a:p>
            <a:pP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1371600" y="3291840"/>
            <a:ext cx="7040880" cy="228600"/>
          </a:xfrm>
          <a:prstGeom prst="rect">
            <a:avLst/>
          </a:prstGeom>
          <a:noFill/>
          <a:ln/>
        </p:spPr>
        <p:txBody>
          <a:bodyPr wrap="square" rtlCol="0" anchor="ctr"/>
          <a:lstStyle/>
          <a:p>
            <a:pPr indent="0" marL="0">
              <a:buNone/>
            </a:pPr>
            <a:r>
              <a:rPr lang="en-US" sz="1200" b="1" dirty="0">
                <a:solidFill>
                  <a:srgbClr val="003D7A"/>
                </a:solidFill>
                <a:latin typeface="Arial" pitchFamily="34" charset="0"/>
                <a:ea typeface="Arial" pitchFamily="34" charset="-122"/>
                <a:cs typeface="Arial" pitchFamily="34" charset="-120"/>
              </a:rPr>
              <a:t>Root-Cause Intelligence</a:t>
            </a:r>
            <a:endParaRPr lang="en-US" sz="1200" dirty="0"/>
          </a:p>
        </p:txBody>
      </p:sp>
      <p:sp>
        <p:nvSpPr>
          <p:cNvPr id="13" name="Text 11"/>
          <p:cNvSpPr/>
          <p:nvPr/>
        </p:nvSpPr>
        <p:spPr>
          <a:xfrm>
            <a:off x="1371600" y="3566160"/>
            <a:ext cx="7040880" cy="45720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Understands WHY costs are elevated (supplier lock-in, inefficient process, legacy contract). Not just costs, but causes</a:t>
            </a:r>
            <a:endParaRPr lang="en-US" sz="1000" dirty="0"/>
          </a:p>
        </p:txBody>
      </p:sp>
      <p:sp>
        <p:nvSpPr>
          <p:cNvPr id="14" name="Text 12"/>
          <p:cNvSpPr/>
          <p:nvPr/>
        </p:nvSpPr>
        <p:spPr>
          <a:xfrm>
            <a:off x="731520" y="4114800"/>
            <a:ext cx="457200" cy="365760"/>
          </a:xfrm>
          <a:prstGeom prst="rect">
            <a:avLst/>
          </a:prstGeom>
          <a:noFill/>
          <a:ln/>
        </p:spPr>
        <p:txBody>
          <a:bodyPr wrap="square" rtlCol="0" anchor="ctr"/>
          <a:lstStyle/>
          <a:p>
            <a:pP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15" name="Text 13"/>
          <p:cNvSpPr/>
          <p:nvPr/>
        </p:nvSpPr>
        <p:spPr>
          <a:xfrm>
            <a:off x="1371600" y="4160520"/>
            <a:ext cx="7040880" cy="228600"/>
          </a:xfrm>
          <a:prstGeom prst="rect">
            <a:avLst/>
          </a:prstGeom>
          <a:noFill/>
          <a:ln/>
        </p:spPr>
        <p:txBody>
          <a:bodyPr wrap="square" rtlCol="0" anchor="ctr"/>
          <a:lstStyle/>
          <a:p>
            <a:pPr indent="0" marL="0">
              <a:buNone/>
            </a:pPr>
            <a:r>
              <a:rPr lang="en-US" sz="1200" b="1" dirty="0">
                <a:solidFill>
                  <a:srgbClr val="003D7A"/>
                </a:solidFill>
                <a:latin typeface="Arial" pitchFamily="34" charset="0"/>
                <a:ea typeface="Arial" pitchFamily="34" charset="-122"/>
                <a:cs typeface="Arial" pitchFamily="34" charset="-120"/>
              </a:rPr>
              <a:t>Institutional Memory</a:t>
            </a:r>
            <a:endParaRPr lang="en-US" sz="1200" dirty="0"/>
          </a:p>
        </p:txBody>
      </p:sp>
      <p:sp>
        <p:nvSpPr>
          <p:cNvPr id="16" name="Text 14"/>
          <p:cNvSpPr/>
          <p:nvPr/>
        </p:nvSpPr>
        <p:spPr>
          <a:xfrm>
            <a:off x="1371600" y="4434840"/>
            <a:ext cx="7040880" cy="45720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Learns from every analysis. Previous findings, successful initiatives, and market insights automatically inform future opportunities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365760"/>
            <a:ext cx="7680960" cy="548640"/>
          </a:xfrm>
          <a:prstGeom prst="rect">
            <a:avLst/>
          </a:prstGeom>
          <a:noFill/>
          <a:ln/>
        </p:spPr>
        <p:txBody>
          <a:bodyPr wrap="square" rtlCol="0" anchor="ctr"/>
          <a:lstStyle/>
          <a:p>
            <a:pPr indent="0" marL="0">
              <a:buNone/>
            </a:pPr>
            <a:r>
              <a:rPr lang="en-US" sz="3200" b="1" dirty="0">
                <a:solidFill>
                  <a:srgbClr val="003D7A"/>
                </a:solidFill>
                <a:latin typeface="Arial" pitchFamily="34" charset="0"/>
                <a:ea typeface="Arial" pitchFamily="34" charset="-122"/>
                <a:cs typeface="Arial" pitchFamily="34" charset="-120"/>
              </a:rPr>
              <a:t>How The Agentic System Works: The OPAR Loop</a:t>
            </a:r>
            <a:endParaRPr lang="en-US" sz="3200" dirty="0"/>
          </a:p>
        </p:txBody>
      </p:sp>
      <p:sp>
        <p:nvSpPr>
          <p:cNvPr id="4" name="Text 2"/>
          <p:cNvSpPr/>
          <p:nvPr/>
        </p:nvSpPr>
        <p:spPr>
          <a:xfrm>
            <a:off x="731520" y="1005840"/>
            <a:ext cx="7680960" cy="274320"/>
          </a:xfrm>
          <a:prstGeom prst="rect">
            <a:avLst/>
          </a:prstGeom>
          <a:noFill/>
          <a:ln/>
        </p:spPr>
        <p:txBody>
          <a:bodyPr wrap="square" rtlCol="0" anchor="ctr"/>
          <a:lstStyle/>
          <a:p>
            <a:pPr indent="0" marL="0">
              <a:buNone/>
            </a:pPr>
            <a:r>
              <a:rPr lang="en-US" sz="1200" i="1" dirty="0">
                <a:solidFill>
                  <a:srgbClr val="2A2A2A"/>
                </a:solidFill>
                <a:latin typeface="Arial" pitchFamily="34" charset="0"/>
                <a:ea typeface="Arial" pitchFamily="34" charset="-122"/>
                <a:cs typeface="Arial" pitchFamily="34" charset="-120"/>
              </a:rPr>
              <a:t>Observe → Plan → Act → Reflect: Continuous autonomous optimization cycle</a:t>
            </a:r>
            <a:endParaRPr lang="en-US" sz="1200" dirty="0"/>
          </a:p>
        </p:txBody>
      </p:sp>
      <p:sp>
        <p:nvSpPr>
          <p:cNvPr id="5" name="Shape 3"/>
          <p:cNvSpPr/>
          <p:nvPr/>
        </p:nvSpPr>
        <p:spPr>
          <a:xfrm>
            <a:off x="731520" y="1554480"/>
            <a:ext cx="1828800" cy="4114800"/>
          </a:xfrm>
          <a:prstGeom prst="rect">
            <a:avLst/>
          </a:prstGeom>
          <a:solidFill>
            <a:srgbClr val="003D7A"/>
          </a:solidFill>
          <a:ln/>
        </p:spPr>
      </p:sp>
      <p:sp>
        <p:nvSpPr>
          <p:cNvPr id="6" name="Text 4"/>
          <p:cNvSpPr/>
          <p:nvPr/>
        </p:nvSpPr>
        <p:spPr>
          <a:xfrm>
            <a:off x="822960" y="1783080"/>
            <a:ext cx="164592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OBSERVE</a:t>
            </a:r>
            <a:endParaRPr lang="en-US" sz="1300" dirty="0"/>
          </a:p>
        </p:txBody>
      </p:sp>
      <p:sp>
        <p:nvSpPr>
          <p:cNvPr id="7" name="Text 5"/>
          <p:cNvSpPr/>
          <p:nvPr/>
        </p:nvSpPr>
        <p:spPr>
          <a:xfrm>
            <a:off x="822960" y="2240280"/>
            <a:ext cx="1645920" cy="274320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Ingest spend data. Profile categories, time periods, suppliers, business units. Identify anomalies, trends, outliers. Understand data quality issues.</a:t>
            </a:r>
            <a:endParaRPr lang="en-US" sz="900" dirty="0"/>
          </a:p>
        </p:txBody>
      </p:sp>
      <p:sp>
        <p:nvSpPr>
          <p:cNvPr id="8" name="Text 6"/>
          <p:cNvSpPr/>
          <p:nvPr/>
        </p:nvSpPr>
        <p:spPr>
          <a:xfrm>
            <a:off x="1417320" y="5806440"/>
            <a:ext cx="457200" cy="274320"/>
          </a:xfrm>
          <a:prstGeom prst="rect">
            <a:avLst/>
          </a:prstGeom>
          <a:noFill/>
          <a:ln/>
        </p:spPr>
        <p:txBody>
          <a:bodyPr wrap="square" rtlCol="0" anchor="ctr"/>
          <a:lstStyle/>
          <a:p>
            <a:pPr algn="ctr" indent="0" marL="0">
              <a:buNone/>
            </a:pPr>
            <a:r>
              <a:rPr lang="en-US" sz="2400" dirty="0">
                <a:solidFill>
                  <a:srgbClr val="00A651"/>
                </a:solidFill>
                <a:latin typeface="Arial" pitchFamily="34" charset="0"/>
                <a:ea typeface="Arial" pitchFamily="34" charset="-122"/>
                <a:cs typeface="Arial" pitchFamily="34" charset="-120"/>
              </a:rPr>
              <a:t>↓</a:t>
            </a:r>
            <a:endParaRPr lang="en-US" sz="2400" dirty="0"/>
          </a:p>
        </p:txBody>
      </p:sp>
      <p:sp>
        <p:nvSpPr>
          <p:cNvPr id="9" name="Shape 7"/>
          <p:cNvSpPr/>
          <p:nvPr/>
        </p:nvSpPr>
        <p:spPr>
          <a:xfrm>
            <a:off x="2651760" y="1554480"/>
            <a:ext cx="1828800" cy="4114800"/>
          </a:xfrm>
          <a:prstGeom prst="rect">
            <a:avLst/>
          </a:prstGeom>
          <a:solidFill>
            <a:srgbClr val="00A651"/>
          </a:solidFill>
          <a:ln/>
        </p:spPr>
      </p:sp>
      <p:sp>
        <p:nvSpPr>
          <p:cNvPr id="10" name="Text 8"/>
          <p:cNvSpPr/>
          <p:nvPr/>
        </p:nvSpPr>
        <p:spPr>
          <a:xfrm>
            <a:off x="2743200" y="1783080"/>
            <a:ext cx="164592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PLAN</a:t>
            </a:r>
            <a:endParaRPr lang="en-US" sz="1300" dirty="0"/>
          </a:p>
        </p:txBody>
      </p:sp>
      <p:sp>
        <p:nvSpPr>
          <p:cNvPr id="11" name="Text 9"/>
          <p:cNvSpPr/>
          <p:nvPr/>
        </p:nvSpPr>
        <p:spPr>
          <a:xfrm>
            <a:off x="2743200" y="2240280"/>
            <a:ext cx="1645920" cy="274320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Run diagnostic skills. Decompose spend by value lever. Estimate opportunity size per lever. Surface root causes. Prioritize by impact potential.</a:t>
            </a:r>
            <a:endParaRPr lang="en-US" sz="900" dirty="0"/>
          </a:p>
        </p:txBody>
      </p:sp>
      <p:sp>
        <p:nvSpPr>
          <p:cNvPr id="12" name="Text 10"/>
          <p:cNvSpPr/>
          <p:nvPr/>
        </p:nvSpPr>
        <p:spPr>
          <a:xfrm>
            <a:off x="3337560" y="5806440"/>
            <a:ext cx="457200" cy="274320"/>
          </a:xfrm>
          <a:prstGeom prst="rect">
            <a:avLst/>
          </a:prstGeom>
          <a:noFill/>
          <a:ln/>
        </p:spPr>
        <p:txBody>
          <a:bodyPr wrap="square" rtlCol="0" anchor="ctr"/>
          <a:lstStyle/>
          <a:p>
            <a:pPr algn="ctr" indent="0" marL="0">
              <a:buNone/>
            </a:pPr>
            <a:r>
              <a:rPr lang="en-US" sz="2400" dirty="0">
                <a:solidFill>
                  <a:srgbClr val="00A651"/>
                </a:solidFill>
                <a:latin typeface="Arial" pitchFamily="34" charset="0"/>
                <a:ea typeface="Arial" pitchFamily="34" charset="-122"/>
                <a:cs typeface="Arial" pitchFamily="34" charset="-120"/>
              </a:rPr>
              <a:t>↓</a:t>
            </a:r>
            <a:endParaRPr lang="en-US" sz="2400" dirty="0"/>
          </a:p>
        </p:txBody>
      </p:sp>
      <p:sp>
        <p:nvSpPr>
          <p:cNvPr id="13" name="Shape 11"/>
          <p:cNvSpPr/>
          <p:nvPr/>
        </p:nvSpPr>
        <p:spPr>
          <a:xfrm>
            <a:off x="4572000" y="1554480"/>
            <a:ext cx="1828800" cy="4114800"/>
          </a:xfrm>
          <a:prstGeom prst="rect">
            <a:avLst/>
          </a:prstGeom>
          <a:solidFill>
            <a:srgbClr val="E8853C"/>
          </a:solidFill>
          <a:ln/>
        </p:spPr>
      </p:sp>
      <p:sp>
        <p:nvSpPr>
          <p:cNvPr id="14" name="Text 12"/>
          <p:cNvSpPr/>
          <p:nvPr/>
        </p:nvSpPr>
        <p:spPr>
          <a:xfrm>
            <a:off x="4663440" y="1783080"/>
            <a:ext cx="164592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ACT</a:t>
            </a:r>
            <a:endParaRPr lang="en-US" sz="1300" dirty="0"/>
          </a:p>
        </p:txBody>
      </p:sp>
      <p:sp>
        <p:nvSpPr>
          <p:cNvPr id="15" name="Text 13"/>
          <p:cNvSpPr/>
          <p:nvPr/>
        </p:nvSpPr>
        <p:spPr>
          <a:xfrm>
            <a:off x="4663440" y="2240280"/>
            <a:ext cx="1645920" cy="274320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Generate business cases. Quantify savings, timelines, risks. Recommend implementation sequences. Create executive narratives for each opportunity.</a:t>
            </a:r>
            <a:endParaRPr lang="en-US" sz="900" dirty="0"/>
          </a:p>
        </p:txBody>
      </p:sp>
      <p:sp>
        <p:nvSpPr>
          <p:cNvPr id="16" name="Text 14"/>
          <p:cNvSpPr/>
          <p:nvPr/>
        </p:nvSpPr>
        <p:spPr>
          <a:xfrm>
            <a:off x="5257800" y="5806440"/>
            <a:ext cx="457200" cy="274320"/>
          </a:xfrm>
          <a:prstGeom prst="rect">
            <a:avLst/>
          </a:prstGeom>
          <a:noFill/>
          <a:ln/>
        </p:spPr>
        <p:txBody>
          <a:bodyPr wrap="square" rtlCol="0" anchor="ctr"/>
          <a:lstStyle/>
          <a:p>
            <a:pPr algn="ctr" indent="0" marL="0">
              <a:buNone/>
            </a:pPr>
            <a:r>
              <a:rPr lang="en-US" sz="2400" dirty="0">
                <a:solidFill>
                  <a:srgbClr val="00A651"/>
                </a:solidFill>
                <a:latin typeface="Arial" pitchFamily="34" charset="0"/>
                <a:ea typeface="Arial" pitchFamily="34" charset="-122"/>
                <a:cs typeface="Arial" pitchFamily="34" charset="-120"/>
              </a:rPr>
              <a:t>↓</a:t>
            </a:r>
            <a:endParaRPr lang="en-US" sz="2400" dirty="0"/>
          </a:p>
        </p:txBody>
      </p:sp>
      <p:sp>
        <p:nvSpPr>
          <p:cNvPr id="17" name="Shape 15"/>
          <p:cNvSpPr/>
          <p:nvPr/>
        </p:nvSpPr>
        <p:spPr>
          <a:xfrm>
            <a:off x="6492240" y="1554480"/>
            <a:ext cx="1828800" cy="4114800"/>
          </a:xfrm>
          <a:prstGeom prst="rect">
            <a:avLst/>
          </a:prstGeom>
          <a:solidFill>
            <a:srgbClr val="2A2A2A"/>
          </a:solidFill>
          <a:ln/>
        </p:spPr>
      </p:sp>
      <p:sp>
        <p:nvSpPr>
          <p:cNvPr id="18" name="Text 16"/>
          <p:cNvSpPr/>
          <p:nvPr/>
        </p:nvSpPr>
        <p:spPr>
          <a:xfrm>
            <a:off x="6583680" y="1783080"/>
            <a:ext cx="164592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REFLECT</a:t>
            </a:r>
            <a:endParaRPr lang="en-US" sz="1300" dirty="0"/>
          </a:p>
        </p:txBody>
      </p:sp>
      <p:sp>
        <p:nvSpPr>
          <p:cNvPr id="19" name="Text 17"/>
          <p:cNvSpPr/>
          <p:nvPr/>
        </p:nvSpPr>
        <p:spPr>
          <a:xfrm>
            <a:off x="6583680" y="2240280"/>
            <a:ext cx="1645920" cy="274320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Store learnings in institutional memory. Update benchmarks. Calibrate confidence. Improve recommendations for next cycle. Enable continuous improvement.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365760"/>
            <a:ext cx="7680960" cy="548640"/>
          </a:xfrm>
          <a:prstGeom prst="rect">
            <a:avLst/>
          </a:prstGeom>
          <a:noFill/>
          <a:ln/>
        </p:spPr>
        <p:txBody>
          <a:bodyPr wrap="square" rtlCol="0" anchor="ctr"/>
          <a:lstStyle/>
          <a:p>
            <a:pPr indent="0" marL="0">
              <a:buNone/>
            </a:pPr>
            <a:r>
              <a:rPr lang="en-US" sz="3200" b="1" dirty="0">
                <a:solidFill>
                  <a:srgbClr val="003D7A"/>
                </a:solidFill>
                <a:latin typeface="Arial" pitchFamily="34" charset="0"/>
                <a:ea typeface="Arial" pitchFamily="34" charset="-122"/>
                <a:cs typeface="Arial" pitchFamily="34" charset="-120"/>
              </a:rPr>
              <a:t>The Analytical Skills Engine</a:t>
            </a:r>
            <a:endParaRPr lang="en-US" sz="3200" dirty="0"/>
          </a:p>
        </p:txBody>
      </p:sp>
      <p:sp>
        <p:nvSpPr>
          <p:cNvPr id="4" name="Text 2"/>
          <p:cNvSpPr/>
          <p:nvPr/>
        </p:nvSpPr>
        <p:spPr>
          <a:xfrm>
            <a:off x="731520" y="1005840"/>
            <a:ext cx="7680960" cy="274320"/>
          </a:xfrm>
          <a:prstGeom prst="rect">
            <a:avLst/>
          </a:prstGeom>
          <a:noFill/>
          <a:ln/>
        </p:spPr>
        <p:txBody>
          <a:bodyPr wrap="square" rtlCol="0" anchor="ctr"/>
          <a:lstStyle/>
          <a:p>
            <a:pPr indent="0" marL="0">
              <a:buNone/>
            </a:pPr>
            <a:r>
              <a:rPr lang="en-US" sz="1200" i="1" dirty="0">
                <a:solidFill>
                  <a:srgbClr val="2A2A2A"/>
                </a:solidFill>
                <a:latin typeface="Arial" pitchFamily="34" charset="0"/>
                <a:ea typeface="Arial" pitchFamily="34" charset="-122"/>
                <a:cs typeface="Arial" pitchFamily="34" charset="-120"/>
              </a:rPr>
              <a:t>12 composable AI skills that run in orchestrated sequence to drive value lever analysis</a:t>
            </a:r>
            <a:endParaRPr lang="en-US" sz="1200" dirty="0"/>
          </a:p>
        </p:txBody>
      </p:sp>
      <p:sp>
        <p:nvSpPr>
          <p:cNvPr id="5" name="Text 3"/>
          <p:cNvSpPr/>
          <p:nvPr/>
        </p:nvSpPr>
        <p:spPr>
          <a:xfrm>
            <a:off x="731520" y="1508760"/>
            <a:ext cx="1280160" cy="256032"/>
          </a:xfrm>
          <a:prstGeom prst="rect">
            <a:avLst/>
          </a:prstGeom>
          <a:noFill/>
          <a:ln/>
        </p:spPr>
        <p:txBody>
          <a:bodyPr wrap="square" rtlCol="0" anchor="ctr"/>
          <a:lstStyle/>
          <a:p>
            <a:pPr indent="0" marL="0">
              <a:buNone/>
            </a:pPr>
            <a:r>
              <a:rPr lang="en-US" sz="1100" b="1" dirty="0">
                <a:solidFill>
                  <a:srgbClr val="00A651"/>
                </a:solidFill>
                <a:latin typeface="Arial" pitchFamily="34" charset="0"/>
                <a:ea typeface="Arial" pitchFamily="34" charset="-122"/>
                <a:cs typeface="Arial" pitchFamily="34" charset="-120"/>
              </a:rPr>
              <a:t>OBSERVE</a:t>
            </a:r>
            <a:endParaRPr lang="en-US" sz="1100" dirty="0"/>
          </a:p>
        </p:txBody>
      </p:sp>
      <p:sp>
        <p:nvSpPr>
          <p:cNvPr id="6" name="Shape 4"/>
          <p:cNvSpPr/>
          <p:nvPr/>
        </p:nvSpPr>
        <p:spPr>
          <a:xfrm>
            <a:off x="2194560" y="1508760"/>
            <a:ext cx="2103120" cy="256032"/>
          </a:xfrm>
          <a:prstGeom prst="rect">
            <a:avLst/>
          </a:prstGeom>
          <a:solidFill>
            <a:srgbClr val="F0F0F0"/>
          </a:solidFill>
          <a:ln w="12700">
            <a:solidFill>
              <a:srgbClr val="003D7A"/>
            </a:solidFill>
            <a:prstDash val="solid"/>
          </a:ln>
        </p:spPr>
      </p:sp>
      <p:sp>
        <p:nvSpPr>
          <p:cNvPr id="7" name="Text 5"/>
          <p:cNvSpPr/>
          <p:nvPr/>
        </p:nvSpPr>
        <p:spPr>
          <a:xfrm>
            <a:off x="2194560" y="150876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Spend Profiler</a:t>
            </a:r>
            <a:endParaRPr lang="en-US" sz="900" dirty="0"/>
          </a:p>
        </p:txBody>
      </p:sp>
      <p:sp>
        <p:nvSpPr>
          <p:cNvPr id="8" name="Shape 6"/>
          <p:cNvSpPr/>
          <p:nvPr/>
        </p:nvSpPr>
        <p:spPr>
          <a:xfrm>
            <a:off x="4480560" y="1508760"/>
            <a:ext cx="2103120" cy="256032"/>
          </a:xfrm>
          <a:prstGeom prst="rect">
            <a:avLst/>
          </a:prstGeom>
          <a:solidFill>
            <a:srgbClr val="F0F0F0"/>
          </a:solidFill>
          <a:ln w="12700">
            <a:solidFill>
              <a:srgbClr val="003D7A"/>
            </a:solidFill>
            <a:prstDash val="solid"/>
          </a:ln>
        </p:spPr>
      </p:sp>
      <p:sp>
        <p:nvSpPr>
          <p:cNvPr id="9" name="Text 7"/>
          <p:cNvSpPr/>
          <p:nvPr/>
        </p:nvSpPr>
        <p:spPr>
          <a:xfrm>
            <a:off x="4480560" y="150876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Data Validator</a:t>
            </a:r>
            <a:endParaRPr lang="en-US" sz="900" dirty="0"/>
          </a:p>
        </p:txBody>
      </p:sp>
      <p:sp>
        <p:nvSpPr>
          <p:cNvPr id="10" name="Shape 8"/>
          <p:cNvSpPr/>
          <p:nvPr/>
        </p:nvSpPr>
        <p:spPr>
          <a:xfrm>
            <a:off x="6766560" y="1508760"/>
            <a:ext cx="2103120" cy="256032"/>
          </a:xfrm>
          <a:prstGeom prst="rect">
            <a:avLst/>
          </a:prstGeom>
          <a:solidFill>
            <a:srgbClr val="F0F0F0"/>
          </a:solidFill>
          <a:ln w="12700">
            <a:solidFill>
              <a:srgbClr val="003D7A"/>
            </a:solidFill>
            <a:prstDash val="solid"/>
          </a:ln>
        </p:spPr>
      </p:sp>
      <p:sp>
        <p:nvSpPr>
          <p:cNvPr id="11" name="Text 9"/>
          <p:cNvSpPr/>
          <p:nvPr/>
        </p:nvSpPr>
        <p:spPr>
          <a:xfrm>
            <a:off x="6766560" y="150876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Temporal Analyzer</a:t>
            </a:r>
            <a:endParaRPr lang="en-US" sz="900" dirty="0"/>
          </a:p>
        </p:txBody>
      </p:sp>
      <p:sp>
        <p:nvSpPr>
          <p:cNvPr id="12" name="Text 10"/>
          <p:cNvSpPr/>
          <p:nvPr/>
        </p:nvSpPr>
        <p:spPr>
          <a:xfrm>
            <a:off x="731520" y="2103120"/>
            <a:ext cx="1280160" cy="256032"/>
          </a:xfrm>
          <a:prstGeom prst="rect">
            <a:avLst/>
          </a:prstGeom>
          <a:noFill/>
          <a:ln/>
        </p:spPr>
        <p:txBody>
          <a:bodyPr wrap="square" rtlCol="0" anchor="ctr"/>
          <a:lstStyle/>
          <a:p>
            <a:pPr indent="0" marL="0">
              <a:buNone/>
            </a:pPr>
            <a:r>
              <a:rPr lang="en-US" sz="1100" b="1" dirty="0">
                <a:solidFill>
                  <a:srgbClr val="00A651"/>
                </a:solidFill>
                <a:latin typeface="Arial" pitchFamily="34" charset="0"/>
                <a:ea typeface="Arial" pitchFamily="34" charset="-122"/>
                <a:cs typeface="Arial" pitchFamily="34" charset="-120"/>
              </a:rPr>
              <a:t>PLAN</a:t>
            </a:r>
            <a:endParaRPr lang="en-US" sz="1100" dirty="0"/>
          </a:p>
        </p:txBody>
      </p:sp>
      <p:sp>
        <p:nvSpPr>
          <p:cNvPr id="13" name="Shape 11"/>
          <p:cNvSpPr/>
          <p:nvPr/>
        </p:nvSpPr>
        <p:spPr>
          <a:xfrm>
            <a:off x="2194560" y="2103120"/>
            <a:ext cx="2103120" cy="256032"/>
          </a:xfrm>
          <a:prstGeom prst="rect">
            <a:avLst/>
          </a:prstGeom>
          <a:solidFill>
            <a:srgbClr val="F0F0F0"/>
          </a:solidFill>
          <a:ln w="12700">
            <a:solidFill>
              <a:srgbClr val="003D7A"/>
            </a:solidFill>
            <a:prstDash val="solid"/>
          </a:ln>
        </p:spPr>
      </p:sp>
      <p:sp>
        <p:nvSpPr>
          <p:cNvPr id="14" name="Text 12"/>
          <p:cNvSpPr/>
          <p:nvPr/>
        </p:nvSpPr>
        <p:spPr>
          <a:xfrm>
            <a:off x="2194560" y="210312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Root-Cause Analyzer</a:t>
            </a:r>
            <a:endParaRPr lang="en-US" sz="900" dirty="0"/>
          </a:p>
        </p:txBody>
      </p:sp>
      <p:sp>
        <p:nvSpPr>
          <p:cNvPr id="15" name="Shape 13"/>
          <p:cNvSpPr/>
          <p:nvPr/>
        </p:nvSpPr>
        <p:spPr>
          <a:xfrm>
            <a:off x="4480560" y="2103120"/>
            <a:ext cx="2103120" cy="256032"/>
          </a:xfrm>
          <a:prstGeom prst="rect">
            <a:avLst/>
          </a:prstGeom>
          <a:solidFill>
            <a:srgbClr val="F0F0F0"/>
          </a:solidFill>
          <a:ln w="12700">
            <a:solidFill>
              <a:srgbClr val="003D7A"/>
            </a:solidFill>
            <a:prstDash val="solid"/>
          </a:ln>
        </p:spPr>
      </p:sp>
      <p:sp>
        <p:nvSpPr>
          <p:cNvPr id="16" name="Text 14"/>
          <p:cNvSpPr/>
          <p:nvPr/>
        </p:nvSpPr>
        <p:spPr>
          <a:xfrm>
            <a:off x="4480560" y="210312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Value Lever Mapper</a:t>
            </a:r>
            <a:endParaRPr lang="en-US" sz="900" dirty="0"/>
          </a:p>
        </p:txBody>
      </p:sp>
      <p:sp>
        <p:nvSpPr>
          <p:cNvPr id="17" name="Shape 15"/>
          <p:cNvSpPr/>
          <p:nvPr/>
        </p:nvSpPr>
        <p:spPr>
          <a:xfrm>
            <a:off x="6766560" y="2103120"/>
            <a:ext cx="2103120" cy="256032"/>
          </a:xfrm>
          <a:prstGeom prst="rect">
            <a:avLst/>
          </a:prstGeom>
          <a:solidFill>
            <a:srgbClr val="F0F0F0"/>
          </a:solidFill>
          <a:ln w="12700">
            <a:solidFill>
              <a:srgbClr val="003D7A"/>
            </a:solidFill>
            <a:prstDash val="solid"/>
          </a:ln>
        </p:spPr>
      </p:sp>
      <p:sp>
        <p:nvSpPr>
          <p:cNvPr id="18" name="Text 16"/>
          <p:cNvSpPr/>
          <p:nvPr/>
        </p:nvSpPr>
        <p:spPr>
          <a:xfrm>
            <a:off x="6766560" y="210312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Heuristic Analyzer</a:t>
            </a:r>
            <a:endParaRPr lang="en-US" sz="900" dirty="0"/>
          </a:p>
        </p:txBody>
      </p:sp>
      <p:sp>
        <p:nvSpPr>
          <p:cNvPr id="19" name="Text 17"/>
          <p:cNvSpPr/>
          <p:nvPr/>
        </p:nvSpPr>
        <p:spPr>
          <a:xfrm>
            <a:off x="731520" y="2697480"/>
            <a:ext cx="1280160" cy="256032"/>
          </a:xfrm>
          <a:prstGeom prst="rect">
            <a:avLst/>
          </a:prstGeom>
          <a:noFill/>
          <a:ln/>
        </p:spPr>
        <p:txBody>
          <a:bodyPr wrap="square" rtlCol="0" anchor="ctr"/>
          <a:lstStyle/>
          <a:p>
            <a:pPr indent="0" marL="0">
              <a:buNone/>
            </a:pPr>
            <a:r>
              <a:rPr lang="en-US" sz="1100" b="1" dirty="0">
                <a:solidFill>
                  <a:srgbClr val="00A651"/>
                </a:solidFill>
                <a:latin typeface="Arial" pitchFamily="34" charset="0"/>
                <a:ea typeface="Arial" pitchFamily="34" charset="-122"/>
                <a:cs typeface="Arial" pitchFamily="34" charset="-120"/>
              </a:rPr>
              <a:t>ACT</a:t>
            </a:r>
            <a:endParaRPr lang="en-US" sz="1100" dirty="0"/>
          </a:p>
        </p:txBody>
      </p:sp>
      <p:sp>
        <p:nvSpPr>
          <p:cNvPr id="20" name="Shape 18"/>
          <p:cNvSpPr/>
          <p:nvPr/>
        </p:nvSpPr>
        <p:spPr>
          <a:xfrm>
            <a:off x="2194560" y="2697480"/>
            <a:ext cx="2103120" cy="256032"/>
          </a:xfrm>
          <a:prstGeom prst="rect">
            <a:avLst/>
          </a:prstGeom>
          <a:solidFill>
            <a:srgbClr val="F0F0F0"/>
          </a:solidFill>
          <a:ln w="12700">
            <a:solidFill>
              <a:srgbClr val="003D7A"/>
            </a:solidFill>
            <a:prstDash val="solid"/>
          </a:ln>
        </p:spPr>
      </p:sp>
      <p:sp>
        <p:nvSpPr>
          <p:cNvPr id="21" name="Text 19"/>
          <p:cNvSpPr/>
          <p:nvPr/>
        </p:nvSpPr>
        <p:spPr>
          <a:xfrm>
            <a:off x="2194560" y="269748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Savings Modeler</a:t>
            </a:r>
            <a:endParaRPr lang="en-US" sz="900" dirty="0"/>
          </a:p>
        </p:txBody>
      </p:sp>
      <p:sp>
        <p:nvSpPr>
          <p:cNvPr id="22" name="Shape 20"/>
          <p:cNvSpPr/>
          <p:nvPr/>
        </p:nvSpPr>
        <p:spPr>
          <a:xfrm>
            <a:off x="4480560" y="2697480"/>
            <a:ext cx="2103120" cy="256032"/>
          </a:xfrm>
          <a:prstGeom prst="rect">
            <a:avLst/>
          </a:prstGeom>
          <a:solidFill>
            <a:srgbClr val="F0F0F0"/>
          </a:solidFill>
          <a:ln w="12700">
            <a:solidFill>
              <a:srgbClr val="003D7A"/>
            </a:solidFill>
            <a:prstDash val="solid"/>
          </a:ln>
        </p:spPr>
      </p:sp>
      <p:sp>
        <p:nvSpPr>
          <p:cNvPr id="23" name="Text 21"/>
          <p:cNvSpPr/>
          <p:nvPr/>
        </p:nvSpPr>
        <p:spPr>
          <a:xfrm>
            <a:off x="4480560" y="269748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Business Case Builder</a:t>
            </a:r>
            <a:endParaRPr lang="en-US" sz="900" dirty="0"/>
          </a:p>
        </p:txBody>
      </p:sp>
      <p:sp>
        <p:nvSpPr>
          <p:cNvPr id="24" name="Shape 22"/>
          <p:cNvSpPr/>
          <p:nvPr/>
        </p:nvSpPr>
        <p:spPr>
          <a:xfrm>
            <a:off x="6766560" y="2697480"/>
            <a:ext cx="2103120" cy="256032"/>
          </a:xfrm>
          <a:prstGeom prst="rect">
            <a:avLst/>
          </a:prstGeom>
          <a:solidFill>
            <a:srgbClr val="F0F0F0"/>
          </a:solidFill>
          <a:ln w="12700">
            <a:solidFill>
              <a:srgbClr val="003D7A"/>
            </a:solidFill>
            <a:prstDash val="solid"/>
          </a:ln>
        </p:spPr>
      </p:sp>
      <p:sp>
        <p:nvSpPr>
          <p:cNvPr id="25" name="Text 23"/>
          <p:cNvSpPr/>
          <p:nvPr/>
        </p:nvSpPr>
        <p:spPr>
          <a:xfrm>
            <a:off x="6766560" y="269748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Risk Assessor</a:t>
            </a:r>
            <a:endParaRPr lang="en-US" sz="900" dirty="0"/>
          </a:p>
        </p:txBody>
      </p:sp>
      <p:sp>
        <p:nvSpPr>
          <p:cNvPr id="26" name="Text 24"/>
          <p:cNvSpPr/>
          <p:nvPr/>
        </p:nvSpPr>
        <p:spPr>
          <a:xfrm>
            <a:off x="731520" y="3291840"/>
            <a:ext cx="1280160" cy="256032"/>
          </a:xfrm>
          <a:prstGeom prst="rect">
            <a:avLst/>
          </a:prstGeom>
          <a:noFill/>
          <a:ln/>
        </p:spPr>
        <p:txBody>
          <a:bodyPr wrap="square" rtlCol="0" anchor="ctr"/>
          <a:lstStyle/>
          <a:p>
            <a:pPr indent="0" marL="0">
              <a:buNone/>
            </a:pPr>
            <a:r>
              <a:rPr lang="en-US" sz="1100" b="1" dirty="0">
                <a:solidFill>
                  <a:srgbClr val="00A651"/>
                </a:solidFill>
                <a:latin typeface="Arial" pitchFamily="34" charset="0"/>
                <a:ea typeface="Arial" pitchFamily="34" charset="-122"/>
                <a:cs typeface="Arial" pitchFamily="34" charset="-120"/>
              </a:rPr>
              <a:t>REFLECT</a:t>
            </a:r>
            <a:endParaRPr lang="en-US" sz="1100" dirty="0"/>
          </a:p>
        </p:txBody>
      </p:sp>
      <p:sp>
        <p:nvSpPr>
          <p:cNvPr id="27" name="Shape 25"/>
          <p:cNvSpPr/>
          <p:nvPr/>
        </p:nvSpPr>
        <p:spPr>
          <a:xfrm>
            <a:off x="2194560" y="3291840"/>
            <a:ext cx="2103120" cy="256032"/>
          </a:xfrm>
          <a:prstGeom prst="rect">
            <a:avLst/>
          </a:prstGeom>
          <a:solidFill>
            <a:srgbClr val="F0F0F0"/>
          </a:solidFill>
          <a:ln w="12700">
            <a:solidFill>
              <a:srgbClr val="003D7A"/>
            </a:solidFill>
            <a:prstDash val="solid"/>
          </a:ln>
        </p:spPr>
      </p:sp>
      <p:sp>
        <p:nvSpPr>
          <p:cNvPr id="28" name="Text 26"/>
          <p:cNvSpPr/>
          <p:nvPr/>
        </p:nvSpPr>
        <p:spPr>
          <a:xfrm>
            <a:off x="2194560" y="329184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Trend Monitor</a:t>
            </a:r>
            <a:endParaRPr lang="en-US" sz="900" dirty="0"/>
          </a:p>
        </p:txBody>
      </p:sp>
      <p:sp>
        <p:nvSpPr>
          <p:cNvPr id="29" name="Shape 27"/>
          <p:cNvSpPr/>
          <p:nvPr/>
        </p:nvSpPr>
        <p:spPr>
          <a:xfrm>
            <a:off x="4480560" y="3291840"/>
            <a:ext cx="2103120" cy="256032"/>
          </a:xfrm>
          <a:prstGeom prst="rect">
            <a:avLst/>
          </a:prstGeom>
          <a:solidFill>
            <a:srgbClr val="F0F0F0"/>
          </a:solidFill>
          <a:ln w="12700">
            <a:solidFill>
              <a:srgbClr val="003D7A"/>
            </a:solidFill>
            <a:prstDash val="solid"/>
          </a:ln>
        </p:spPr>
      </p:sp>
      <p:sp>
        <p:nvSpPr>
          <p:cNvPr id="30" name="Text 28"/>
          <p:cNvSpPr/>
          <p:nvPr/>
        </p:nvSpPr>
        <p:spPr>
          <a:xfrm>
            <a:off x="4480560" y="329184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Memory Manager</a:t>
            </a:r>
            <a:endParaRPr lang="en-US" sz="900" dirty="0"/>
          </a:p>
        </p:txBody>
      </p:sp>
      <p:sp>
        <p:nvSpPr>
          <p:cNvPr id="31" name="Shape 29"/>
          <p:cNvSpPr/>
          <p:nvPr/>
        </p:nvSpPr>
        <p:spPr>
          <a:xfrm>
            <a:off x="6766560" y="3291840"/>
            <a:ext cx="2103120" cy="256032"/>
          </a:xfrm>
          <a:prstGeom prst="rect">
            <a:avLst/>
          </a:prstGeom>
          <a:solidFill>
            <a:srgbClr val="F0F0F0"/>
          </a:solidFill>
          <a:ln w="12700">
            <a:solidFill>
              <a:srgbClr val="003D7A"/>
            </a:solidFill>
            <a:prstDash val="solid"/>
          </a:ln>
        </p:spPr>
      </p:sp>
      <p:sp>
        <p:nvSpPr>
          <p:cNvPr id="32" name="Text 30"/>
          <p:cNvSpPr/>
          <p:nvPr/>
        </p:nvSpPr>
        <p:spPr>
          <a:xfrm>
            <a:off x="6766560" y="3291840"/>
            <a:ext cx="2103120" cy="256032"/>
          </a:xfrm>
          <a:prstGeom prst="rect">
            <a:avLst/>
          </a:prstGeom>
          <a:noFill/>
          <a:ln/>
        </p:spPr>
        <p:txBody>
          <a:bodyPr wrap="square" rtlCol="0" anchor="ctr"/>
          <a:lstStyle/>
          <a:p>
            <a:pPr algn="ctr" indent="0" marL="0">
              <a:buNone/>
            </a:pPr>
            <a:r>
              <a:rPr lang="en-US" sz="900" b="1" dirty="0">
                <a:solidFill>
                  <a:srgbClr val="003D7A"/>
                </a:solidFill>
                <a:latin typeface="Arial" pitchFamily="34" charset="0"/>
                <a:ea typeface="Arial" pitchFamily="34" charset="-122"/>
                <a:cs typeface="Arial" pitchFamily="34" charset="-120"/>
              </a:rPr>
              <a:t>Synthesizer</a:t>
            </a:r>
            <a:endParaRPr lang="en-US" sz="900" dirty="0"/>
          </a:p>
        </p:txBody>
      </p:sp>
      <p:sp>
        <p:nvSpPr>
          <p:cNvPr id="33" name="Shape 31"/>
          <p:cNvSpPr/>
          <p:nvPr/>
        </p:nvSpPr>
        <p:spPr>
          <a:xfrm>
            <a:off x="731520" y="4846320"/>
            <a:ext cx="7680960" cy="1463040"/>
          </a:xfrm>
          <a:prstGeom prst="rect">
            <a:avLst/>
          </a:prstGeom>
          <a:solidFill>
            <a:srgbClr val="F0F0F0"/>
          </a:solidFill>
          <a:ln/>
        </p:spPr>
      </p:sp>
      <p:sp>
        <p:nvSpPr>
          <p:cNvPr id="34" name="Text 32"/>
          <p:cNvSpPr/>
          <p:nvPr/>
        </p:nvSpPr>
        <p:spPr>
          <a:xfrm>
            <a:off x="914400" y="4983480"/>
            <a:ext cx="7315200" cy="228600"/>
          </a:xfrm>
          <a:prstGeom prst="rect">
            <a:avLst/>
          </a:prstGeom>
          <a:noFill/>
          <a:ln/>
        </p:spPr>
        <p:txBody>
          <a:bodyPr wrap="square" rtlCol="0" anchor="ctr"/>
          <a:lstStyle/>
          <a:p>
            <a:pPr indent="0" marL="0">
              <a:buNone/>
            </a:pPr>
            <a:r>
              <a:rPr lang="en-US" sz="1100" b="1" dirty="0">
                <a:solidFill>
                  <a:srgbClr val="003D7A"/>
                </a:solidFill>
                <a:latin typeface="Arial" pitchFamily="34" charset="0"/>
                <a:ea typeface="Arial" pitchFamily="34" charset="-122"/>
                <a:cs typeface="Arial" pitchFamily="34" charset="-120"/>
              </a:rPr>
              <a:t>Orchestration Engine (Claude AI + Memory Store)</a:t>
            </a:r>
            <a:endParaRPr lang="en-US" sz="1100" dirty="0"/>
          </a:p>
        </p:txBody>
      </p:sp>
      <p:sp>
        <p:nvSpPr>
          <p:cNvPr id="35" name="Text 33"/>
          <p:cNvSpPr/>
          <p:nvPr/>
        </p:nvSpPr>
        <p:spPr>
          <a:xfrm>
            <a:off x="914400" y="5303520"/>
            <a:ext cx="7315200" cy="91440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Skills execute in intelligent sequence based on data availability and analysis context. Claude AI acts as the orchestrator, routing data through the appropriate skill sequence, synthesizing outputs, and maintaining institutional memory across cycles.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365760"/>
            <a:ext cx="7680960" cy="548640"/>
          </a:xfrm>
          <a:prstGeom prst="rect">
            <a:avLst/>
          </a:prstGeom>
          <a:noFill/>
          <a:ln/>
        </p:spPr>
        <p:txBody>
          <a:bodyPr wrap="square" rtlCol="0" anchor="ctr"/>
          <a:lstStyle/>
          <a:p>
            <a:pPr indent="0" marL="0">
              <a:buNone/>
            </a:pPr>
            <a:r>
              <a:rPr lang="en-US" sz="3200" b="1" dirty="0">
                <a:solidFill>
                  <a:srgbClr val="003D7A"/>
                </a:solidFill>
                <a:latin typeface="Arial" pitchFamily="34" charset="0"/>
                <a:ea typeface="Arial" pitchFamily="34" charset="-122"/>
                <a:cs typeface="Arial" pitchFamily="34" charset="-120"/>
              </a:rPr>
              <a:t>Value Lever in Action: Cost Reduction + Consolidation</a:t>
            </a:r>
            <a:endParaRPr lang="en-US" sz="3200" dirty="0"/>
          </a:p>
        </p:txBody>
      </p:sp>
      <p:sp>
        <p:nvSpPr>
          <p:cNvPr id="4" name="Text 2"/>
          <p:cNvSpPr/>
          <p:nvPr/>
        </p:nvSpPr>
        <p:spPr>
          <a:xfrm>
            <a:off x="731520" y="1005840"/>
            <a:ext cx="7680960" cy="274320"/>
          </a:xfrm>
          <a:prstGeom prst="rect">
            <a:avLst/>
          </a:prstGeom>
          <a:noFill/>
          <a:ln/>
        </p:spPr>
        <p:txBody>
          <a:bodyPr wrap="square" rtlCol="0" anchor="ctr"/>
          <a:lstStyle/>
          <a:p>
            <a:pPr indent="0" marL="0">
              <a:buNone/>
            </a:pPr>
            <a:r>
              <a:rPr lang="en-US" sz="1200" i="1" dirty="0">
                <a:solidFill>
                  <a:srgbClr val="2A2A2A"/>
                </a:solidFill>
                <a:latin typeface="Arial" pitchFamily="34" charset="0"/>
                <a:ea typeface="Arial" pitchFamily="34" charset="-122"/>
                <a:cs typeface="Arial" pitchFamily="34" charset="-120"/>
              </a:rPr>
              <a:t>Real Case: IT Infrastructure &amp; Professional Services Optimization</a:t>
            </a:r>
            <a:endParaRPr lang="en-US" sz="1200" dirty="0"/>
          </a:p>
        </p:txBody>
      </p:sp>
      <p:sp>
        <p:nvSpPr>
          <p:cNvPr id="5" name="Shape 3"/>
          <p:cNvSpPr/>
          <p:nvPr/>
        </p:nvSpPr>
        <p:spPr>
          <a:xfrm>
            <a:off x="731520" y="1508760"/>
            <a:ext cx="3840480" cy="4389120"/>
          </a:xfrm>
          <a:prstGeom prst="rect">
            <a:avLst/>
          </a:prstGeom>
          <a:solidFill>
            <a:srgbClr val="F0F0F0"/>
          </a:solidFill>
          <a:ln/>
        </p:spPr>
      </p:sp>
      <p:sp>
        <p:nvSpPr>
          <p:cNvPr id="6" name="Text 4"/>
          <p:cNvSpPr/>
          <p:nvPr/>
        </p:nvSpPr>
        <p:spPr>
          <a:xfrm>
            <a:off x="914400" y="1645920"/>
            <a:ext cx="3474720" cy="256032"/>
          </a:xfrm>
          <a:prstGeom prst="rect">
            <a:avLst/>
          </a:prstGeom>
          <a:noFill/>
          <a:ln/>
        </p:spPr>
        <p:txBody>
          <a:bodyPr wrap="square" rtlCol="0" anchor="ctr"/>
          <a:lstStyle/>
          <a:p>
            <a:pPr indent="0" marL="0">
              <a:buNone/>
            </a:pPr>
            <a:r>
              <a:rPr lang="en-US" sz="1100" b="1" dirty="0">
                <a:solidFill>
                  <a:srgbClr val="00A651"/>
                </a:solidFill>
                <a:latin typeface="Arial" pitchFamily="34" charset="0"/>
                <a:ea typeface="Arial" pitchFamily="34" charset="-122"/>
                <a:cs typeface="Arial" pitchFamily="34" charset="-120"/>
              </a:rPr>
              <a:t>INITIAL STATE</a:t>
            </a:r>
            <a:endParaRPr lang="en-US" sz="1100" dirty="0"/>
          </a:p>
        </p:txBody>
      </p:sp>
      <p:sp>
        <p:nvSpPr>
          <p:cNvPr id="7" name="Text 5"/>
          <p:cNvSpPr/>
          <p:nvPr/>
        </p:nvSpPr>
        <p:spPr>
          <a:xfrm>
            <a:off x="914400" y="2011680"/>
            <a:ext cx="3474720" cy="27432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 8 primary cloud vendors</a:t>
            </a:r>
            <a:endParaRPr lang="en-US" sz="1000" dirty="0"/>
          </a:p>
        </p:txBody>
      </p:sp>
      <p:sp>
        <p:nvSpPr>
          <p:cNvPr id="8" name="Text 6"/>
          <p:cNvSpPr/>
          <p:nvPr/>
        </p:nvSpPr>
        <p:spPr>
          <a:xfrm>
            <a:off x="914400" y="2331720"/>
            <a:ext cx="3474720" cy="27432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 14 consulting firms</a:t>
            </a:r>
            <a:endParaRPr lang="en-US" sz="1000" dirty="0"/>
          </a:p>
        </p:txBody>
      </p:sp>
      <p:sp>
        <p:nvSpPr>
          <p:cNvPr id="9" name="Text 7"/>
          <p:cNvSpPr/>
          <p:nvPr/>
        </p:nvSpPr>
        <p:spPr>
          <a:xfrm>
            <a:off x="914400" y="2651760"/>
            <a:ext cx="3474720" cy="27432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 No standardized rates</a:t>
            </a:r>
            <a:endParaRPr lang="en-US" sz="1000" dirty="0"/>
          </a:p>
        </p:txBody>
      </p:sp>
      <p:sp>
        <p:nvSpPr>
          <p:cNvPr id="10" name="Text 8"/>
          <p:cNvSpPr/>
          <p:nvPr/>
        </p:nvSpPr>
        <p:spPr>
          <a:xfrm>
            <a:off x="914400" y="2971800"/>
            <a:ext cx="3474720" cy="27432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 Legacy contracts (3-5 yrs old)</a:t>
            </a:r>
            <a:endParaRPr lang="en-US" sz="1000" dirty="0"/>
          </a:p>
        </p:txBody>
      </p:sp>
      <p:sp>
        <p:nvSpPr>
          <p:cNvPr id="11" name="Text 9"/>
          <p:cNvSpPr/>
          <p:nvPr/>
        </p:nvSpPr>
        <p:spPr>
          <a:xfrm>
            <a:off x="914400" y="3291840"/>
            <a:ext cx="3474720" cy="274320"/>
          </a:xfrm>
          <a:prstGeom prst="rect">
            <a:avLst/>
          </a:prstGeom>
          <a:noFill/>
          <a:ln/>
        </p:spPr>
        <p:txBody>
          <a:bodyPr wrap="square" rtlCol="0" anchor="ctr"/>
          <a:lstStyle/>
          <a:p>
            <a:pPr indent="0" marL="0">
              <a:buNone/>
            </a:pPr>
            <a:r>
              <a:rPr lang="en-US" sz="1000" dirty="0">
                <a:solidFill>
                  <a:srgbClr val="1A1A1A"/>
                </a:solidFill>
                <a:latin typeface="Arial" pitchFamily="34" charset="0"/>
                <a:ea typeface="Arial" pitchFamily="34" charset="-122"/>
                <a:cs typeface="Arial" pitchFamily="34" charset="-120"/>
              </a:rPr>
              <a:t>• $187.4M annual spend</a:t>
            </a:r>
            <a:endParaRPr lang="en-US" sz="1000" dirty="0"/>
          </a:p>
        </p:txBody>
      </p:sp>
      <p:sp>
        <p:nvSpPr>
          <p:cNvPr id="12" name="Shape 10"/>
          <p:cNvSpPr/>
          <p:nvPr/>
        </p:nvSpPr>
        <p:spPr>
          <a:xfrm>
            <a:off x="4572000" y="1508760"/>
            <a:ext cx="3840480" cy="4389120"/>
          </a:xfrm>
          <a:prstGeom prst="rect">
            <a:avLst/>
          </a:prstGeom>
          <a:solidFill>
            <a:srgbClr val="FFFFFF"/>
          </a:solidFill>
          <a:ln w="25400">
            <a:solidFill>
              <a:srgbClr val="00A651"/>
            </a:solidFill>
            <a:prstDash val="solid"/>
          </a:ln>
        </p:spPr>
      </p:sp>
      <p:sp>
        <p:nvSpPr>
          <p:cNvPr id="13" name="Text 11"/>
          <p:cNvSpPr/>
          <p:nvPr/>
        </p:nvSpPr>
        <p:spPr>
          <a:xfrm>
            <a:off x="4754880" y="1645920"/>
            <a:ext cx="3474720" cy="256032"/>
          </a:xfrm>
          <a:prstGeom prst="rect">
            <a:avLst/>
          </a:prstGeom>
          <a:noFill/>
          <a:ln/>
        </p:spPr>
        <p:txBody>
          <a:bodyPr wrap="square" rtlCol="0" anchor="ctr"/>
          <a:lstStyle/>
          <a:p>
            <a:pPr indent="0" marL="0">
              <a:buNone/>
            </a:pPr>
            <a:r>
              <a:rPr lang="en-US" sz="1100" b="1" dirty="0">
                <a:solidFill>
                  <a:srgbClr val="00A651"/>
                </a:solidFill>
                <a:latin typeface="Arial" pitchFamily="34" charset="0"/>
                <a:ea typeface="Arial" pitchFamily="34" charset="-122"/>
                <a:cs typeface="Arial" pitchFamily="34" charset="-120"/>
              </a:rPr>
              <a:t>AI-IDENTIFIED OPPORTUNITY</a:t>
            </a:r>
            <a:endParaRPr lang="en-US" sz="1100" dirty="0"/>
          </a:p>
        </p:txBody>
      </p:sp>
      <p:sp>
        <p:nvSpPr>
          <p:cNvPr id="14" name="Text 12"/>
          <p:cNvSpPr/>
          <p:nvPr/>
        </p:nvSpPr>
        <p:spPr>
          <a:xfrm>
            <a:off x="4754880" y="2011680"/>
            <a:ext cx="3474720" cy="256032"/>
          </a:xfrm>
          <a:prstGeom prst="rect">
            <a:avLst/>
          </a:prstGeom>
          <a:noFill/>
          <a:ln/>
        </p:spPr>
        <p:txBody>
          <a:bodyPr wrap="square" rtlCol="0" anchor="ctr"/>
          <a:lstStyle/>
          <a:p>
            <a:pPr indent="0" marL="0">
              <a:buNone/>
            </a:pPr>
            <a:r>
              <a:rPr lang="en-US" sz="1000" b="1" dirty="0">
                <a:solidFill>
                  <a:srgbClr val="E8853C"/>
                </a:solidFill>
                <a:latin typeface="Arial" pitchFamily="34" charset="0"/>
                <a:ea typeface="Arial" pitchFamily="34" charset="-122"/>
                <a:cs typeface="Arial" pitchFamily="34" charset="-120"/>
              </a:rPr>
              <a:t>COST REDUCTION</a:t>
            </a:r>
            <a:endParaRPr lang="en-US" sz="1000" dirty="0"/>
          </a:p>
        </p:txBody>
      </p:sp>
      <p:sp>
        <p:nvSpPr>
          <p:cNvPr id="15" name="Text 13"/>
          <p:cNvSpPr/>
          <p:nvPr/>
        </p:nvSpPr>
        <p:spPr>
          <a:xfrm>
            <a:off x="4754880" y="2313432"/>
            <a:ext cx="3474720" cy="25603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 Rate leverage: 12-15%</a:t>
            </a:r>
            <a:endParaRPr lang="en-US" sz="900" dirty="0"/>
          </a:p>
        </p:txBody>
      </p:sp>
      <p:sp>
        <p:nvSpPr>
          <p:cNvPr id="16" name="Text 14"/>
          <p:cNvSpPr/>
          <p:nvPr/>
        </p:nvSpPr>
        <p:spPr>
          <a:xfrm>
            <a:off x="4754880" y="2615184"/>
            <a:ext cx="3474720" cy="25603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 Volume commitments unlock discounts</a:t>
            </a:r>
            <a:endParaRPr lang="en-US" sz="900" dirty="0"/>
          </a:p>
        </p:txBody>
      </p:sp>
      <p:sp>
        <p:nvSpPr>
          <p:cNvPr id="17" name="Text 15"/>
          <p:cNvSpPr/>
          <p:nvPr/>
        </p:nvSpPr>
        <p:spPr>
          <a:xfrm>
            <a:off x="4754880" y="2916936"/>
            <a:ext cx="3474720" cy="256032"/>
          </a:xfrm>
          <a:prstGeom prst="rect">
            <a:avLst/>
          </a:prstGeom>
          <a:noFill/>
          <a:ln/>
        </p:spPr>
        <p:txBody>
          <a:bodyPr wrap="square" rtlCol="0" anchor="ctr"/>
          <a:lstStyle/>
          <a:p>
            <a:pPr indent="0" marL="0">
              <a:buNone/>
            </a:pPr>
            <a:endParaRPr lang="en-US" sz="900" dirty="0"/>
          </a:p>
        </p:txBody>
      </p:sp>
      <p:sp>
        <p:nvSpPr>
          <p:cNvPr id="18" name="Text 16"/>
          <p:cNvSpPr/>
          <p:nvPr/>
        </p:nvSpPr>
        <p:spPr>
          <a:xfrm>
            <a:off x="4754880" y="3218688"/>
            <a:ext cx="3474720" cy="256032"/>
          </a:xfrm>
          <a:prstGeom prst="rect">
            <a:avLst/>
          </a:prstGeom>
          <a:noFill/>
          <a:ln/>
        </p:spPr>
        <p:txBody>
          <a:bodyPr wrap="square" rtlCol="0" anchor="ctr"/>
          <a:lstStyle/>
          <a:p>
            <a:pPr indent="0" marL="0">
              <a:buNone/>
            </a:pPr>
            <a:r>
              <a:rPr lang="en-US" sz="1000" b="1" dirty="0">
                <a:solidFill>
                  <a:srgbClr val="E8853C"/>
                </a:solidFill>
                <a:latin typeface="Arial" pitchFamily="34" charset="0"/>
                <a:ea typeface="Arial" pitchFamily="34" charset="-122"/>
                <a:cs typeface="Arial" pitchFamily="34" charset="-120"/>
              </a:rPr>
              <a:t>CONSOLIDATION</a:t>
            </a:r>
            <a:endParaRPr lang="en-US" sz="1000" dirty="0"/>
          </a:p>
        </p:txBody>
      </p:sp>
      <p:sp>
        <p:nvSpPr>
          <p:cNvPr id="19" name="Text 17"/>
          <p:cNvSpPr/>
          <p:nvPr/>
        </p:nvSpPr>
        <p:spPr>
          <a:xfrm>
            <a:off x="4754880" y="3520440"/>
            <a:ext cx="3474720" cy="25603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 Reduce to 2-3 preferred vendors</a:t>
            </a:r>
            <a:endParaRPr lang="en-US" sz="900" dirty="0"/>
          </a:p>
        </p:txBody>
      </p:sp>
      <p:sp>
        <p:nvSpPr>
          <p:cNvPr id="20" name="Text 18"/>
          <p:cNvSpPr/>
          <p:nvPr/>
        </p:nvSpPr>
        <p:spPr>
          <a:xfrm>
            <a:off x="4754880" y="3822192"/>
            <a:ext cx="3474720" cy="25603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 Standardize SOWs</a:t>
            </a:r>
            <a:endParaRPr lang="en-US" sz="900" dirty="0"/>
          </a:p>
        </p:txBody>
      </p:sp>
      <p:sp>
        <p:nvSpPr>
          <p:cNvPr id="21" name="Text 19"/>
          <p:cNvSpPr/>
          <p:nvPr/>
        </p:nvSpPr>
        <p:spPr>
          <a:xfrm>
            <a:off x="4754880" y="4123944"/>
            <a:ext cx="3474720" cy="256032"/>
          </a:xfrm>
          <a:prstGeom prst="rect">
            <a:avLst/>
          </a:prstGeom>
          <a:noFill/>
          <a:ln/>
        </p:spPr>
        <p:txBody>
          <a:bodyPr wrap="square" rtlCol="0" anchor="ctr"/>
          <a:lstStyle/>
          <a:p>
            <a:pPr indent="0" marL="0">
              <a:buNone/>
            </a:pPr>
            <a:endParaRPr lang="en-US" sz="900" dirty="0"/>
          </a:p>
        </p:txBody>
      </p:sp>
      <p:sp>
        <p:nvSpPr>
          <p:cNvPr id="22" name="Text 20"/>
          <p:cNvSpPr/>
          <p:nvPr/>
        </p:nvSpPr>
        <p:spPr>
          <a:xfrm>
            <a:off x="4754880" y="4425696"/>
            <a:ext cx="3474720" cy="256032"/>
          </a:xfrm>
          <a:prstGeom prst="rect">
            <a:avLst/>
          </a:prstGeom>
          <a:noFill/>
          <a:ln/>
        </p:spPr>
        <p:txBody>
          <a:bodyPr wrap="square" rtlCol="0" anchor="ctr"/>
          <a:lstStyle/>
          <a:p>
            <a:pPr indent="0" marL="0">
              <a:buNone/>
            </a:pPr>
            <a:r>
              <a:rPr lang="en-US" sz="1000" b="1" dirty="0">
                <a:solidFill>
                  <a:srgbClr val="E8853C"/>
                </a:solidFill>
                <a:latin typeface="Arial" pitchFamily="34" charset="0"/>
                <a:ea typeface="Arial" pitchFamily="34" charset="-122"/>
                <a:cs typeface="Arial" pitchFamily="34" charset="-120"/>
              </a:rPr>
              <a:t>TOTAL POTENTIAL</a:t>
            </a:r>
            <a:endParaRPr lang="en-US" sz="1000" dirty="0"/>
          </a:p>
        </p:txBody>
      </p:sp>
      <p:sp>
        <p:nvSpPr>
          <p:cNvPr id="23" name="Text 21"/>
          <p:cNvSpPr/>
          <p:nvPr/>
        </p:nvSpPr>
        <p:spPr>
          <a:xfrm>
            <a:off x="4754880" y="4727448"/>
            <a:ext cx="3474720" cy="25603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 $18.2M annual savings</a:t>
            </a:r>
            <a:endParaRPr lang="en-US" sz="900" dirty="0"/>
          </a:p>
        </p:txBody>
      </p:sp>
      <p:sp>
        <p:nvSpPr>
          <p:cNvPr id="24" name="Text 22"/>
          <p:cNvSpPr/>
          <p:nvPr/>
        </p:nvSpPr>
        <p:spPr>
          <a:xfrm>
            <a:off x="4754880" y="5029200"/>
            <a:ext cx="3474720" cy="25603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 9.7% of current spend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365760"/>
            <a:ext cx="7680960" cy="548640"/>
          </a:xfrm>
          <a:prstGeom prst="rect">
            <a:avLst/>
          </a:prstGeom>
          <a:noFill/>
          <a:ln/>
        </p:spPr>
        <p:txBody>
          <a:bodyPr wrap="square" rtlCol="0" anchor="ctr"/>
          <a:lstStyle/>
          <a:p>
            <a:pPr indent="0" marL="0">
              <a:buNone/>
            </a:pPr>
            <a:r>
              <a:rPr lang="en-US" sz="3200" b="1" dirty="0">
                <a:solidFill>
                  <a:srgbClr val="003D7A"/>
                </a:solidFill>
                <a:latin typeface="Arial" pitchFamily="34" charset="0"/>
                <a:ea typeface="Arial" pitchFamily="34" charset="-122"/>
                <a:cs typeface="Arial" pitchFamily="34" charset="-120"/>
              </a:rPr>
              <a:t>Business Impact: What Executives Realize</a:t>
            </a:r>
            <a:endParaRPr lang="en-US" sz="3200" dirty="0"/>
          </a:p>
        </p:txBody>
      </p:sp>
      <p:sp>
        <p:nvSpPr>
          <p:cNvPr id="4" name="Shape 2"/>
          <p:cNvSpPr/>
          <p:nvPr/>
        </p:nvSpPr>
        <p:spPr>
          <a:xfrm>
            <a:off x="731520" y="1417320"/>
            <a:ext cx="7680960" cy="914400"/>
          </a:xfrm>
          <a:prstGeom prst="rect">
            <a:avLst/>
          </a:prstGeom>
          <a:solidFill>
            <a:srgbClr val="F0F0F0"/>
          </a:solidFill>
          <a:ln w="12700">
            <a:solidFill>
              <a:srgbClr val="00A651"/>
            </a:solidFill>
            <a:prstDash val="solid"/>
          </a:ln>
        </p:spPr>
      </p:sp>
      <p:sp>
        <p:nvSpPr>
          <p:cNvPr id="5" name="Text 3"/>
          <p:cNvSpPr/>
          <p:nvPr/>
        </p:nvSpPr>
        <p:spPr>
          <a:xfrm>
            <a:off x="914400" y="1490472"/>
            <a:ext cx="1645920" cy="201168"/>
          </a:xfrm>
          <a:prstGeom prst="rect">
            <a:avLst/>
          </a:prstGeom>
          <a:noFill/>
          <a:ln/>
        </p:spPr>
        <p:txBody>
          <a:bodyPr wrap="square" rtlCol="0" anchor="ctr"/>
          <a:lstStyle/>
          <a:p>
            <a:pPr indent="0" marL="0">
              <a:buNone/>
            </a:pPr>
            <a:r>
              <a:rPr lang="en-US" sz="1000" b="1" dirty="0">
                <a:solidFill>
                  <a:srgbClr val="003D7A"/>
                </a:solidFill>
                <a:latin typeface="Arial" pitchFamily="34" charset="0"/>
                <a:ea typeface="Arial" pitchFamily="34" charset="-122"/>
                <a:cs typeface="Arial" pitchFamily="34" charset="-120"/>
              </a:rPr>
              <a:t>CFO</a:t>
            </a:r>
            <a:endParaRPr lang="en-US" sz="1000" dirty="0"/>
          </a:p>
        </p:txBody>
      </p:sp>
      <p:sp>
        <p:nvSpPr>
          <p:cNvPr id="6" name="Text 4"/>
          <p:cNvSpPr/>
          <p:nvPr/>
        </p:nvSpPr>
        <p:spPr>
          <a:xfrm>
            <a:off x="914400" y="1737360"/>
            <a:ext cx="1645920" cy="201168"/>
          </a:xfrm>
          <a:prstGeom prst="rect">
            <a:avLst/>
          </a:prstGeom>
          <a:noFill/>
          <a:ln/>
        </p:spPr>
        <p:txBody>
          <a:bodyPr wrap="square" rtlCol="0" anchor="ctr"/>
          <a:lstStyle/>
          <a:p>
            <a:pPr indent="0" marL="0">
              <a:buNone/>
            </a:pPr>
            <a:r>
              <a:rPr lang="en-US" sz="1100" b="1" dirty="0">
                <a:solidFill>
                  <a:srgbClr val="E8853C"/>
                </a:solidFill>
                <a:latin typeface="Arial" pitchFamily="34" charset="0"/>
                <a:ea typeface="Arial" pitchFamily="34" charset="-122"/>
                <a:cs typeface="Arial" pitchFamily="34" charset="-120"/>
              </a:rPr>
              <a:t>Margin Recovery</a:t>
            </a:r>
            <a:endParaRPr lang="en-US" sz="1100" dirty="0"/>
          </a:p>
        </p:txBody>
      </p:sp>
      <p:sp>
        <p:nvSpPr>
          <p:cNvPr id="7" name="Text 5"/>
          <p:cNvSpPr/>
          <p:nvPr/>
        </p:nvSpPr>
        <p:spPr>
          <a:xfrm>
            <a:off x="2926080" y="1554480"/>
            <a:ext cx="2560320" cy="320040"/>
          </a:xfrm>
          <a:prstGeom prst="rect">
            <a:avLst/>
          </a:prstGeom>
          <a:noFill/>
          <a:ln/>
        </p:spPr>
        <p:txBody>
          <a:bodyPr wrap="square" rtlCol="0" anchor="ctr"/>
          <a:lstStyle/>
          <a:p>
            <a:pPr algn="ctr" indent="0" marL="0">
              <a:buNone/>
            </a:pPr>
            <a:r>
              <a:rPr lang="en-US" sz="1800" b="1" dirty="0">
                <a:solidFill>
                  <a:srgbClr val="00A651"/>
                </a:solidFill>
                <a:latin typeface="Arial" pitchFamily="34" charset="0"/>
                <a:ea typeface="Arial" pitchFamily="34" charset="-122"/>
                <a:cs typeface="Arial" pitchFamily="34" charset="-120"/>
              </a:rPr>
              <a:t>$50–200M</a:t>
            </a:r>
            <a:endParaRPr lang="en-US" sz="1800" dirty="0"/>
          </a:p>
        </p:txBody>
      </p:sp>
      <p:sp>
        <p:nvSpPr>
          <p:cNvPr id="8" name="Text 6"/>
          <p:cNvSpPr/>
          <p:nvPr/>
        </p:nvSpPr>
        <p:spPr>
          <a:xfrm>
            <a:off x="2926080" y="1920240"/>
            <a:ext cx="2560320" cy="201168"/>
          </a:xfrm>
          <a:prstGeom prst="rect">
            <a:avLst/>
          </a:prstGeom>
          <a:noFill/>
          <a:ln/>
        </p:spPr>
        <p:txBody>
          <a:bodyPr wrap="square" rtlCol="0" anchor="ctr"/>
          <a:lstStyle/>
          <a:p>
            <a:pPr algn="ctr" indent="0" marL="0">
              <a:buNone/>
            </a:pPr>
            <a:r>
              <a:rPr lang="en-US" sz="1000" i="1" dirty="0">
                <a:solidFill>
                  <a:srgbClr val="2A2A2A"/>
                </a:solidFill>
                <a:latin typeface="Arial" pitchFamily="34" charset="0"/>
                <a:ea typeface="Arial" pitchFamily="34" charset="-122"/>
                <a:cs typeface="Arial" pitchFamily="34" charset="-120"/>
              </a:rPr>
              <a:t>12 months</a:t>
            </a:r>
            <a:endParaRPr lang="en-US" sz="1000" dirty="0"/>
          </a:p>
        </p:txBody>
      </p:sp>
      <p:sp>
        <p:nvSpPr>
          <p:cNvPr id="9" name="Shape 7"/>
          <p:cNvSpPr/>
          <p:nvPr/>
        </p:nvSpPr>
        <p:spPr>
          <a:xfrm>
            <a:off x="5760720" y="1490472"/>
            <a:ext cx="2651760" cy="713232"/>
          </a:xfrm>
          <a:prstGeom prst="rect">
            <a:avLst/>
          </a:prstGeom>
          <a:solidFill>
            <a:srgbClr val="FFFFFF"/>
          </a:solidFill>
          <a:ln w="12700">
            <a:solidFill>
              <a:srgbClr val="003D7A"/>
            </a:solidFill>
            <a:prstDash val="solid"/>
          </a:ln>
        </p:spPr>
      </p:sp>
      <p:sp>
        <p:nvSpPr>
          <p:cNvPr id="10" name="Text 8"/>
          <p:cNvSpPr/>
          <p:nvPr/>
        </p:nvSpPr>
        <p:spPr>
          <a:xfrm>
            <a:off x="5852160" y="1554480"/>
            <a:ext cx="2468880" cy="621792"/>
          </a:xfrm>
          <a:prstGeom prst="rect">
            <a:avLst/>
          </a:prstGeom>
          <a:noFill/>
          <a:ln/>
        </p:spPr>
        <p:txBody>
          <a:bodyPr wrap="square" rtlCol="0" anchor="ctr"/>
          <a:lstStyle/>
          <a:p>
            <a:pPr algn="ctr" indent="0" marL="0">
              <a:buNone/>
            </a:pPr>
            <a:r>
              <a:rPr lang="en-US" sz="1000" b="1" dirty="0">
                <a:solidFill>
                  <a:srgbClr val="003D7A"/>
                </a:solidFill>
                <a:latin typeface="Arial" pitchFamily="34" charset="0"/>
                <a:ea typeface="Arial" pitchFamily="34" charset="-122"/>
                <a:cs typeface="Arial" pitchFamily="34" charset="-120"/>
              </a:rPr>
              <a:t>$3–$12</a:t>
            </a:r>
            <a:endParaRPr lang="en-US" sz="1000" dirty="0"/>
          </a:p>
          <a:p>
            <a:pPr algn="ctr" indent="0" marL="0">
              <a:buNone/>
            </a:pPr>
            <a:r>
              <a:rPr lang="en-US" sz="1000" b="1" dirty="0">
                <a:solidFill>
                  <a:srgbClr val="003D7A"/>
                </a:solidFill>
                <a:latin typeface="Arial" pitchFamily="34" charset="0"/>
                <a:ea typeface="Arial" pitchFamily="34" charset="-122"/>
                <a:cs typeface="Arial" pitchFamily="34" charset="-120"/>
              </a:rPr>
              <a:t>ROI per $1</a:t>
            </a:r>
            <a:endParaRPr lang="en-US" sz="1000" dirty="0"/>
          </a:p>
        </p:txBody>
      </p:sp>
      <p:sp>
        <p:nvSpPr>
          <p:cNvPr id="11" name="Shape 9"/>
          <p:cNvSpPr/>
          <p:nvPr/>
        </p:nvSpPr>
        <p:spPr>
          <a:xfrm>
            <a:off x="731520" y="2514600"/>
            <a:ext cx="7680960" cy="914400"/>
          </a:xfrm>
          <a:prstGeom prst="rect">
            <a:avLst/>
          </a:prstGeom>
          <a:solidFill>
            <a:srgbClr val="F0F0F0"/>
          </a:solidFill>
          <a:ln w="12700">
            <a:solidFill>
              <a:srgbClr val="00A651"/>
            </a:solidFill>
            <a:prstDash val="solid"/>
          </a:ln>
        </p:spPr>
      </p:sp>
      <p:sp>
        <p:nvSpPr>
          <p:cNvPr id="12" name="Text 10"/>
          <p:cNvSpPr/>
          <p:nvPr/>
        </p:nvSpPr>
        <p:spPr>
          <a:xfrm>
            <a:off x="914400" y="2587752"/>
            <a:ext cx="1645920" cy="201168"/>
          </a:xfrm>
          <a:prstGeom prst="rect">
            <a:avLst/>
          </a:prstGeom>
          <a:noFill/>
          <a:ln/>
        </p:spPr>
        <p:txBody>
          <a:bodyPr wrap="square" rtlCol="0" anchor="ctr"/>
          <a:lstStyle/>
          <a:p>
            <a:pPr indent="0" marL="0">
              <a:buNone/>
            </a:pPr>
            <a:r>
              <a:rPr lang="en-US" sz="1000" b="1" dirty="0">
                <a:solidFill>
                  <a:srgbClr val="003D7A"/>
                </a:solidFill>
                <a:latin typeface="Arial" pitchFamily="34" charset="0"/>
                <a:ea typeface="Arial" pitchFamily="34" charset="-122"/>
                <a:cs typeface="Arial" pitchFamily="34" charset="-120"/>
              </a:rPr>
              <a:t>COO</a:t>
            </a:r>
            <a:endParaRPr lang="en-US" sz="1000" dirty="0"/>
          </a:p>
        </p:txBody>
      </p:sp>
      <p:sp>
        <p:nvSpPr>
          <p:cNvPr id="13" name="Text 11"/>
          <p:cNvSpPr/>
          <p:nvPr/>
        </p:nvSpPr>
        <p:spPr>
          <a:xfrm>
            <a:off x="914400" y="2834640"/>
            <a:ext cx="1645920" cy="201168"/>
          </a:xfrm>
          <a:prstGeom prst="rect">
            <a:avLst/>
          </a:prstGeom>
          <a:noFill/>
          <a:ln/>
        </p:spPr>
        <p:txBody>
          <a:bodyPr wrap="square" rtlCol="0" anchor="ctr"/>
          <a:lstStyle/>
          <a:p>
            <a:pPr indent="0" marL="0">
              <a:buNone/>
            </a:pPr>
            <a:r>
              <a:rPr lang="en-US" sz="1100" b="1" dirty="0">
                <a:solidFill>
                  <a:srgbClr val="E8853C"/>
                </a:solidFill>
                <a:latin typeface="Arial" pitchFamily="34" charset="0"/>
                <a:ea typeface="Arial" pitchFamily="34" charset="-122"/>
                <a:cs typeface="Arial" pitchFamily="34" charset="-120"/>
              </a:rPr>
              <a:t>Speed &amp; Scalability</a:t>
            </a:r>
            <a:endParaRPr lang="en-US" sz="1100" dirty="0"/>
          </a:p>
        </p:txBody>
      </p:sp>
      <p:sp>
        <p:nvSpPr>
          <p:cNvPr id="14" name="Text 12"/>
          <p:cNvSpPr/>
          <p:nvPr/>
        </p:nvSpPr>
        <p:spPr>
          <a:xfrm>
            <a:off x="2926080" y="2651760"/>
            <a:ext cx="2560320" cy="320040"/>
          </a:xfrm>
          <a:prstGeom prst="rect">
            <a:avLst/>
          </a:prstGeom>
          <a:noFill/>
          <a:ln/>
        </p:spPr>
        <p:txBody>
          <a:bodyPr wrap="square" rtlCol="0" anchor="ctr"/>
          <a:lstStyle/>
          <a:p>
            <a:pPr algn="ctr" indent="0" marL="0">
              <a:buNone/>
            </a:pPr>
            <a:r>
              <a:rPr lang="en-US" sz="1800" b="1" dirty="0">
                <a:solidFill>
                  <a:srgbClr val="00A651"/>
                </a:solidFill>
                <a:latin typeface="Arial" pitchFamily="34" charset="0"/>
                <a:ea typeface="Arial" pitchFamily="34" charset="-122"/>
                <a:cs typeface="Arial" pitchFamily="34" charset="-120"/>
              </a:rPr>
              <a:t>48 hours</a:t>
            </a:r>
            <a:endParaRPr lang="en-US" sz="1800" dirty="0"/>
          </a:p>
        </p:txBody>
      </p:sp>
      <p:sp>
        <p:nvSpPr>
          <p:cNvPr id="15" name="Text 13"/>
          <p:cNvSpPr/>
          <p:nvPr/>
        </p:nvSpPr>
        <p:spPr>
          <a:xfrm>
            <a:off x="2926080" y="3017520"/>
            <a:ext cx="2560320" cy="201168"/>
          </a:xfrm>
          <a:prstGeom prst="rect">
            <a:avLst/>
          </a:prstGeom>
          <a:noFill/>
          <a:ln/>
        </p:spPr>
        <p:txBody>
          <a:bodyPr wrap="square" rtlCol="0" anchor="ctr"/>
          <a:lstStyle/>
          <a:p>
            <a:pPr algn="ctr" indent="0" marL="0">
              <a:buNone/>
            </a:pPr>
            <a:r>
              <a:rPr lang="en-US" sz="1000" i="1" dirty="0">
                <a:solidFill>
                  <a:srgbClr val="2A2A2A"/>
                </a:solidFill>
                <a:latin typeface="Arial" pitchFamily="34" charset="0"/>
                <a:ea typeface="Arial" pitchFamily="34" charset="-122"/>
                <a:cs typeface="Arial" pitchFamily="34" charset="-120"/>
              </a:rPr>
              <a:t>vs. 12 weeks</a:t>
            </a:r>
            <a:endParaRPr lang="en-US" sz="1000" dirty="0"/>
          </a:p>
        </p:txBody>
      </p:sp>
      <p:sp>
        <p:nvSpPr>
          <p:cNvPr id="16" name="Shape 14"/>
          <p:cNvSpPr/>
          <p:nvPr/>
        </p:nvSpPr>
        <p:spPr>
          <a:xfrm>
            <a:off x="5760720" y="2587752"/>
            <a:ext cx="2651760" cy="713232"/>
          </a:xfrm>
          <a:prstGeom prst="rect">
            <a:avLst/>
          </a:prstGeom>
          <a:solidFill>
            <a:srgbClr val="FFFFFF"/>
          </a:solidFill>
          <a:ln w="12700">
            <a:solidFill>
              <a:srgbClr val="003D7A"/>
            </a:solidFill>
            <a:prstDash val="solid"/>
          </a:ln>
        </p:spPr>
      </p:sp>
      <p:sp>
        <p:nvSpPr>
          <p:cNvPr id="17" name="Text 15"/>
          <p:cNvSpPr/>
          <p:nvPr/>
        </p:nvSpPr>
        <p:spPr>
          <a:xfrm>
            <a:off x="5852160" y="2651760"/>
            <a:ext cx="2468880" cy="621792"/>
          </a:xfrm>
          <a:prstGeom prst="rect">
            <a:avLst/>
          </a:prstGeom>
          <a:noFill/>
          <a:ln/>
        </p:spPr>
        <p:txBody>
          <a:bodyPr wrap="square" rtlCol="0" anchor="ctr"/>
          <a:lstStyle/>
          <a:p>
            <a:pPr algn="ctr" indent="0" marL="0">
              <a:buNone/>
            </a:pPr>
            <a:r>
              <a:rPr lang="en-US" sz="1000" b="1" dirty="0">
                <a:solidFill>
                  <a:srgbClr val="003D7A"/>
                </a:solidFill>
                <a:latin typeface="Arial" pitchFamily="34" charset="0"/>
                <a:ea typeface="Arial" pitchFamily="34" charset="-122"/>
                <a:cs typeface="Arial" pitchFamily="34" charset="-120"/>
              </a:rPr>
              <a:t>24x faster</a:t>
            </a:r>
            <a:endParaRPr lang="en-US" sz="1000" dirty="0"/>
          </a:p>
          <a:p>
            <a:pPr algn="ctr" indent="0" marL="0">
              <a:buNone/>
            </a:pPr>
            <a:r>
              <a:rPr lang="en-US" sz="1000" b="1" dirty="0">
                <a:solidFill>
                  <a:srgbClr val="003D7A"/>
                </a:solidFill>
                <a:latin typeface="Arial" pitchFamily="34" charset="0"/>
                <a:ea typeface="Arial" pitchFamily="34" charset="-122"/>
                <a:cs typeface="Arial" pitchFamily="34" charset="-120"/>
              </a:rPr>
              <a:t>analysis</a:t>
            </a:r>
            <a:endParaRPr lang="en-US" sz="1000" dirty="0"/>
          </a:p>
        </p:txBody>
      </p:sp>
      <p:sp>
        <p:nvSpPr>
          <p:cNvPr id="18" name="Shape 16"/>
          <p:cNvSpPr/>
          <p:nvPr/>
        </p:nvSpPr>
        <p:spPr>
          <a:xfrm>
            <a:off x="731520" y="3611880"/>
            <a:ext cx="7680960" cy="914400"/>
          </a:xfrm>
          <a:prstGeom prst="rect">
            <a:avLst/>
          </a:prstGeom>
          <a:solidFill>
            <a:srgbClr val="F0F0F0"/>
          </a:solidFill>
          <a:ln w="12700">
            <a:solidFill>
              <a:srgbClr val="00A651"/>
            </a:solidFill>
            <a:prstDash val="solid"/>
          </a:ln>
        </p:spPr>
      </p:sp>
      <p:sp>
        <p:nvSpPr>
          <p:cNvPr id="19" name="Text 17"/>
          <p:cNvSpPr/>
          <p:nvPr/>
        </p:nvSpPr>
        <p:spPr>
          <a:xfrm>
            <a:off x="914400" y="3685032"/>
            <a:ext cx="1645920" cy="201168"/>
          </a:xfrm>
          <a:prstGeom prst="rect">
            <a:avLst/>
          </a:prstGeom>
          <a:noFill/>
          <a:ln/>
        </p:spPr>
        <p:txBody>
          <a:bodyPr wrap="square" rtlCol="0" anchor="ctr"/>
          <a:lstStyle/>
          <a:p>
            <a:pPr indent="0" marL="0">
              <a:buNone/>
            </a:pPr>
            <a:r>
              <a:rPr lang="en-US" sz="1000" b="1" dirty="0">
                <a:solidFill>
                  <a:srgbClr val="003D7A"/>
                </a:solidFill>
                <a:latin typeface="Arial" pitchFamily="34" charset="0"/>
                <a:ea typeface="Arial" pitchFamily="34" charset="-122"/>
                <a:cs typeface="Arial" pitchFamily="34" charset="-120"/>
              </a:rPr>
              <a:t>CPO</a:t>
            </a:r>
            <a:endParaRPr lang="en-US" sz="1000" dirty="0"/>
          </a:p>
        </p:txBody>
      </p:sp>
      <p:sp>
        <p:nvSpPr>
          <p:cNvPr id="20" name="Text 18"/>
          <p:cNvSpPr/>
          <p:nvPr/>
        </p:nvSpPr>
        <p:spPr>
          <a:xfrm>
            <a:off x="914400" y="3931920"/>
            <a:ext cx="1645920" cy="201168"/>
          </a:xfrm>
          <a:prstGeom prst="rect">
            <a:avLst/>
          </a:prstGeom>
          <a:noFill/>
          <a:ln/>
        </p:spPr>
        <p:txBody>
          <a:bodyPr wrap="square" rtlCol="0" anchor="ctr"/>
          <a:lstStyle/>
          <a:p>
            <a:pPr indent="0" marL="0">
              <a:buNone/>
            </a:pPr>
            <a:r>
              <a:rPr lang="en-US" sz="1100" b="1" dirty="0">
                <a:solidFill>
                  <a:srgbClr val="E8853C"/>
                </a:solidFill>
                <a:latin typeface="Arial" pitchFamily="34" charset="0"/>
                <a:ea typeface="Arial" pitchFamily="34" charset="-122"/>
                <a:cs typeface="Arial" pitchFamily="34" charset="-120"/>
              </a:rPr>
              <a:t>Supplier Leverage</a:t>
            </a:r>
            <a:endParaRPr lang="en-US" sz="1100" dirty="0"/>
          </a:p>
        </p:txBody>
      </p:sp>
      <p:sp>
        <p:nvSpPr>
          <p:cNvPr id="21" name="Text 19"/>
          <p:cNvSpPr/>
          <p:nvPr/>
        </p:nvSpPr>
        <p:spPr>
          <a:xfrm>
            <a:off x="2926080" y="3749040"/>
            <a:ext cx="2560320" cy="320040"/>
          </a:xfrm>
          <a:prstGeom prst="rect">
            <a:avLst/>
          </a:prstGeom>
          <a:noFill/>
          <a:ln/>
        </p:spPr>
        <p:txBody>
          <a:bodyPr wrap="square" rtlCol="0" anchor="ctr"/>
          <a:lstStyle/>
          <a:p>
            <a:pPr algn="ctr" indent="0" marL="0">
              <a:buNone/>
            </a:pPr>
            <a:r>
              <a:rPr lang="en-US" sz="1800" b="1" dirty="0">
                <a:solidFill>
                  <a:srgbClr val="00A651"/>
                </a:solidFill>
                <a:latin typeface="Arial" pitchFamily="34" charset="0"/>
                <a:ea typeface="Arial" pitchFamily="34" charset="-122"/>
                <a:cs typeface="Arial" pitchFamily="34" charset="-120"/>
              </a:rPr>
              <a:t>8–12%</a:t>
            </a:r>
            <a:endParaRPr lang="en-US" sz="1800" dirty="0"/>
          </a:p>
        </p:txBody>
      </p:sp>
      <p:sp>
        <p:nvSpPr>
          <p:cNvPr id="22" name="Text 20"/>
          <p:cNvSpPr/>
          <p:nvPr/>
        </p:nvSpPr>
        <p:spPr>
          <a:xfrm>
            <a:off x="2926080" y="4114800"/>
            <a:ext cx="2560320" cy="201168"/>
          </a:xfrm>
          <a:prstGeom prst="rect">
            <a:avLst/>
          </a:prstGeom>
          <a:noFill/>
          <a:ln/>
        </p:spPr>
        <p:txBody>
          <a:bodyPr wrap="square" rtlCol="0" anchor="ctr"/>
          <a:lstStyle/>
          <a:p>
            <a:pPr algn="ctr" indent="0" marL="0">
              <a:buNone/>
            </a:pPr>
            <a:r>
              <a:rPr lang="en-US" sz="1000" i="1" dirty="0">
                <a:solidFill>
                  <a:srgbClr val="2A2A2A"/>
                </a:solidFill>
                <a:latin typeface="Arial" pitchFamily="34" charset="0"/>
                <a:ea typeface="Arial" pitchFamily="34" charset="-122"/>
                <a:cs typeface="Arial" pitchFamily="34" charset="-120"/>
              </a:rPr>
              <a:t>better terms</a:t>
            </a:r>
            <a:endParaRPr lang="en-US" sz="1000" dirty="0"/>
          </a:p>
        </p:txBody>
      </p:sp>
      <p:sp>
        <p:nvSpPr>
          <p:cNvPr id="23" name="Shape 21"/>
          <p:cNvSpPr/>
          <p:nvPr/>
        </p:nvSpPr>
        <p:spPr>
          <a:xfrm>
            <a:off x="5760720" y="3685032"/>
            <a:ext cx="2651760" cy="713232"/>
          </a:xfrm>
          <a:prstGeom prst="rect">
            <a:avLst/>
          </a:prstGeom>
          <a:solidFill>
            <a:srgbClr val="FFFFFF"/>
          </a:solidFill>
          <a:ln w="12700">
            <a:solidFill>
              <a:srgbClr val="003D7A"/>
            </a:solidFill>
            <a:prstDash val="solid"/>
          </a:ln>
        </p:spPr>
      </p:sp>
      <p:sp>
        <p:nvSpPr>
          <p:cNvPr id="24" name="Text 22"/>
          <p:cNvSpPr/>
          <p:nvPr/>
        </p:nvSpPr>
        <p:spPr>
          <a:xfrm>
            <a:off x="5852160" y="3749040"/>
            <a:ext cx="2468880" cy="621792"/>
          </a:xfrm>
          <a:prstGeom prst="rect">
            <a:avLst/>
          </a:prstGeom>
          <a:noFill/>
          <a:ln/>
        </p:spPr>
        <p:txBody>
          <a:bodyPr wrap="square" rtlCol="0" anchor="ctr"/>
          <a:lstStyle/>
          <a:p>
            <a:pPr algn="ctr" indent="0" marL="0">
              <a:buNone/>
            </a:pPr>
            <a:r>
              <a:rPr lang="en-US" sz="1000" b="1" dirty="0">
                <a:solidFill>
                  <a:srgbClr val="003D7A"/>
                </a:solidFill>
                <a:latin typeface="Arial" pitchFamily="34" charset="0"/>
                <a:ea typeface="Arial" pitchFamily="34" charset="-122"/>
                <a:cs typeface="Arial" pitchFamily="34" charset="-120"/>
              </a:rPr>
              <a:t>Supplier</a:t>
            </a:r>
            <a:endParaRPr lang="en-US" sz="1000" dirty="0"/>
          </a:p>
          <a:p>
            <a:pPr algn="ctr" indent="0" marL="0">
              <a:buNone/>
            </a:pPr>
            <a:r>
              <a:rPr lang="en-US" sz="1000" b="1" dirty="0">
                <a:solidFill>
                  <a:srgbClr val="003D7A"/>
                </a:solidFill>
                <a:latin typeface="Arial" pitchFamily="34" charset="0"/>
                <a:ea typeface="Arial" pitchFamily="34" charset="-122"/>
                <a:cs typeface="Arial" pitchFamily="34" charset="-120"/>
              </a:rPr>
              <a:t>strategy</a:t>
            </a:r>
            <a:endParaRPr lang="en-US" sz="1000" dirty="0"/>
          </a:p>
        </p:txBody>
      </p:sp>
      <p:sp>
        <p:nvSpPr>
          <p:cNvPr id="25" name="Shape 23"/>
          <p:cNvSpPr/>
          <p:nvPr/>
        </p:nvSpPr>
        <p:spPr>
          <a:xfrm>
            <a:off x="731520" y="4709160"/>
            <a:ext cx="7680960" cy="914400"/>
          </a:xfrm>
          <a:prstGeom prst="rect">
            <a:avLst/>
          </a:prstGeom>
          <a:solidFill>
            <a:srgbClr val="F0F0F0"/>
          </a:solidFill>
          <a:ln w="12700">
            <a:solidFill>
              <a:srgbClr val="00A651"/>
            </a:solidFill>
            <a:prstDash val="solid"/>
          </a:ln>
        </p:spPr>
      </p:sp>
      <p:sp>
        <p:nvSpPr>
          <p:cNvPr id="26" name="Text 24"/>
          <p:cNvSpPr/>
          <p:nvPr/>
        </p:nvSpPr>
        <p:spPr>
          <a:xfrm>
            <a:off x="914400" y="4782312"/>
            <a:ext cx="1645920" cy="201168"/>
          </a:xfrm>
          <a:prstGeom prst="rect">
            <a:avLst/>
          </a:prstGeom>
          <a:noFill/>
          <a:ln/>
        </p:spPr>
        <p:txBody>
          <a:bodyPr wrap="square" rtlCol="0" anchor="ctr"/>
          <a:lstStyle/>
          <a:p>
            <a:pPr indent="0" marL="0">
              <a:buNone/>
            </a:pPr>
            <a:r>
              <a:rPr lang="en-US" sz="1000" b="1" dirty="0">
                <a:solidFill>
                  <a:srgbClr val="003D7A"/>
                </a:solidFill>
                <a:latin typeface="Arial" pitchFamily="34" charset="0"/>
                <a:ea typeface="Arial" pitchFamily="34" charset="-122"/>
                <a:cs typeface="Arial" pitchFamily="34" charset="-120"/>
              </a:rPr>
              <a:t>CEO</a:t>
            </a:r>
            <a:endParaRPr lang="en-US" sz="1000" dirty="0"/>
          </a:p>
        </p:txBody>
      </p:sp>
      <p:sp>
        <p:nvSpPr>
          <p:cNvPr id="27" name="Text 25"/>
          <p:cNvSpPr/>
          <p:nvPr/>
        </p:nvSpPr>
        <p:spPr>
          <a:xfrm>
            <a:off x="914400" y="5029200"/>
            <a:ext cx="1645920" cy="201168"/>
          </a:xfrm>
          <a:prstGeom prst="rect">
            <a:avLst/>
          </a:prstGeom>
          <a:noFill/>
          <a:ln/>
        </p:spPr>
        <p:txBody>
          <a:bodyPr wrap="square" rtlCol="0" anchor="ctr"/>
          <a:lstStyle/>
          <a:p>
            <a:pPr indent="0" marL="0">
              <a:buNone/>
            </a:pPr>
            <a:r>
              <a:rPr lang="en-US" sz="1100" b="1" dirty="0">
                <a:solidFill>
                  <a:srgbClr val="E8853C"/>
                </a:solidFill>
                <a:latin typeface="Arial" pitchFamily="34" charset="0"/>
                <a:ea typeface="Arial" pitchFamily="34" charset="-122"/>
                <a:cs typeface="Arial" pitchFamily="34" charset="-120"/>
              </a:rPr>
              <a:t>Strategic Advantage</a:t>
            </a:r>
            <a:endParaRPr lang="en-US" sz="1100" dirty="0"/>
          </a:p>
        </p:txBody>
      </p:sp>
      <p:sp>
        <p:nvSpPr>
          <p:cNvPr id="28" name="Text 26"/>
          <p:cNvSpPr/>
          <p:nvPr/>
        </p:nvSpPr>
        <p:spPr>
          <a:xfrm>
            <a:off x="2926080" y="4846320"/>
            <a:ext cx="2560320" cy="320040"/>
          </a:xfrm>
          <a:prstGeom prst="rect">
            <a:avLst/>
          </a:prstGeom>
          <a:noFill/>
          <a:ln/>
        </p:spPr>
        <p:txBody>
          <a:bodyPr wrap="square" rtlCol="0" anchor="ctr"/>
          <a:lstStyle/>
          <a:p>
            <a:pPr algn="ctr" indent="0" marL="0">
              <a:buNone/>
            </a:pPr>
            <a:r>
              <a:rPr lang="en-US" sz="1800" b="1" dirty="0">
                <a:solidFill>
                  <a:srgbClr val="00A651"/>
                </a:solidFill>
                <a:latin typeface="Arial" pitchFamily="34" charset="0"/>
                <a:ea typeface="Arial" pitchFamily="34" charset="-122"/>
                <a:cs typeface="Arial" pitchFamily="34" charset="-120"/>
              </a:rPr>
              <a:t>Continuous</a:t>
            </a:r>
            <a:endParaRPr lang="en-US" sz="1800" dirty="0"/>
          </a:p>
        </p:txBody>
      </p:sp>
      <p:sp>
        <p:nvSpPr>
          <p:cNvPr id="29" name="Text 27"/>
          <p:cNvSpPr/>
          <p:nvPr/>
        </p:nvSpPr>
        <p:spPr>
          <a:xfrm>
            <a:off x="2926080" y="5212080"/>
            <a:ext cx="2560320" cy="201168"/>
          </a:xfrm>
          <a:prstGeom prst="rect">
            <a:avLst/>
          </a:prstGeom>
          <a:noFill/>
          <a:ln/>
        </p:spPr>
        <p:txBody>
          <a:bodyPr wrap="square" rtlCol="0" anchor="ctr"/>
          <a:lstStyle/>
          <a:p>
            <a:pPr algn="ctr" indent="0" marL="0">
              <a:buNone/>
            </a:pPr>
            <a:r>
              <a:rPr lang="en-US" sz="1000" i="1" dirty="0">
                <a:solidFill>
                  <a:srgbClr val="2A2A2A"/>
                </a:solidFill>
                <a:latin typeface="Arial" pitchFamily="34" charset="0"/>
                <a:ea typeface="Arial" pitchFamily="34" charset="-122"/>
                <a:cs typeface="Arial" pitchFamily="34" charset="-120"/>
              </a:rPr>
              <a:t>cost edge</a:t>
            </a:r>
            <a:endParaRPr lang="en-US" sz="1000" dirty="0"/>
          </a:p>
        </p:txBody>
      </p:sp>
      <p:sp>
        <p:nvSpPr>
          <p:cNvPr id="30" name="Shape 28"/>
          <p:cNvSpPr/>
          <p:nvPr/>
        </p:nvSpPr>
        <p:spPr>
          <a:xfrm>
            <a:off x="5760720" y="4782312"/>
            <a:ext cx="2651760" cy="713232"/>
          </a:xfrm>
          <a:prstGeom prst="rect">
            <a:avLst/>
          </a:prstGeom>
          <a:solidFill>
            <a:srgbClr val="FFFFFF"/>
          </a:solidFill>
          <a:ln w="12700">
            <a:solidFill>
              <a:srgbClr val="003D7A"/>
            </a:solidFill>
            <a:prstDash val="solid"/>
          </a:ln>
        </p:spPr>
      </p:sp>
      <p:sp>
        <p:nvSpPr>
          <p:cNvPr id="31" name="Text 29"/>
          <p:cNvSpPr/>
          <p:nvPr/>
        </p:nvSpPr>
        <p:spPr>
          <a:xfrm>
            <a:off x="5852160" y="4846320"/>
            <a:ext cx="2468880" cy="621792"/>
          </a:xfrm>
          <a:prstGeom prst="rect">
            <a:avLst/>
          </a:prstGeom>
          <a:noFill/>
          <a:ln/>
        </p:spPr>
        <p:txBody>
          <a:bodyPr wrap="square" rtlCol="0" anchor="ctr"/>
          <a:lstStyle/>
          <a:p>
            <a:pPr algn="ctr" indent="0" marL="0">
              <a:buNone/>
            </a:pPr>
            <a:r>
              <a:rPr lang="en-US" sz="1000" b="1" dirty="0">
                <a:solidFill>
                  <a:srgbClr val="003D7A"/>
                </a:solidFill>
                <a:latin typeface="Arial" pitchFamily="34" charset="0"/>
                <a:ea typeface="Arial" pitchFamily="34" charset="-122"/>
                <a:cs typeface="Arial" pitchFamily="34" charset="-120"/>
              </a:rPr>
              <a:t>Defense</a:t>
            </a:r>
            <a:endParaRPr lang="en-US" sz="1000" dirty="0"/>
          </a:p>
          <a:p>
            <a:pPr algn="ctr" indent="0" marL="0">
              <a:buNone/>
            </a:pPr>
            <a:r>
              <a:rPr lang="en-US" sz="1000" b="1" dirty="0">
                <a:solidFill>
                  <a:srgbClr val="003D7A"/>
                </a:solidFill>
                <a:latin typeface="Arial" pitchFamily="34" charset="0"/>
                <a:ea typeface="Arial" pitchFamily="34" charset="-122"/>
                <a:cs typeface="Arial" pitchFamily="34" charset="-120"/>
              </a:rPr>
              <a:t>against margin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365760"/>
            <a:ext cx="7680960" cy="548640"/>
          </a:xfrm>
          <a:prstGeom prst="rect">
            <a:avLst/>
          </a:prstGeom>
          <a:noFill/>
          <a:ln/>
        </p:spPr>
        <p:txBody>
          <a:bodyPr wrap="square" rtlCol="0" anchor="ctr"/>
          <a:lstStyle/>
          <a:p>
            <a:pPr indent="0" marL="0">
              <a:buNone/>
            </a:pPr>
            <a:r>
              <a:rPr lang="en-US" sz="3200" b="1" dirty="0">
                <a:solidFill>
                  <a:srgbClr val="003D7A"/>
                </a:solidFill>
                <a:latin typeface="Arial" pitchFamily="34" charset="0"/>
                <a:ea typeface="Arial" pitchFamily="34" charset="-122"/>
                <a:cs typeface="Arial" pitchFamily="34" charset="-120"/>
              </a:rPr>
              <a:t>From Spend Data to Action: 30-Day Sprint</a:t>
            </a:r>
            <a:endParaRPr lang="en-US" sz="3200" dirty="0"/>
          </a:p>
        </p:txBody>
      </p:sp>
      <p:sp>
        <p:nvSpPr>
          <p:cNvPr id="4" name="Shape 2"/>
          <p:cNvSpPr/>
          <p:nvPr/>
        </p:nvSpPr>
        <p:spPr>
          <a:xfrm>
            <a:off x="731520" y="1188720"/>
            <a:ext cx="1828800" cy="4846320"/>
          </a:xfrm>
          <a:prstGeom prst="rect">
            <a:avLst/>
          </a:prstGeom>
          <a:solidFill>
            <a:srgbClr val="003D7A"/>
          </a:solidFill>
          <a:ln/>
        </p:spPr>
      </p:sp>
      <p:sp>
        <p:nvSpPr>
          <p:cNvPr id="5" name="Text 3"/>
          <p:cNvSpPr/>
          <p:nvPr/>
        </p:nvSpPr>
        <p:spPr>
          <a:xfrm>
            <a:off x="822960" y="1371600"/>
            <a:ext cx="1645920" cy="2286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 1</a:t>
            </a:r>
            <a:endParaRPr lang="en-US" sz="1000" dirty="0"/>
          </a:p>
        </p:txBody>
      </p:sp>
      <p:sp>
        <p:nvSpPr>
          <p:cNvPr id="6" name="Text 4"/>
          <p:cNvSpPr/>
          <p:nvPr/>
        </p:nvSpPr>
        <p:spPr>
          <a:xfrm>
            <a:off x="822960" y="1737360"/>
            <a:ext cx="164592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DATA INGESTION</a:t>
            </a:r>
            <a:endParaRPr lang="en-US" sz="1100" dirty="0"/>
          </a:p>
        </p:txBody>
      </p:sp>
      <p:sp>
        <p:nvSpPr>
          <p:cNvPr id="7" name="Text 5"/>
          <p:cNvSpPr/>
          <p:nvPr/>
        </p:nvSpPr>
        <p:spPr>
          <a:xfrm>
            <a:off x="868680" y="219456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Upload spend files</a:t>
            </a:r>
            <a:endParaRPr lang="en-US" sz="800" dirty="0"/>
          </a:p>
        </p:txBody>
      </p:sp>
      <p:sp>
        <p:nvSpPr>
          <p:cNvPr id="8" name="Text 6"/>
          <p:cNvSpPr/>
          <p:nvPr/>
        </p:nvSpPr>
        <p:spPr>
          <a:xfrm>
            <a:off x="868680" y="274320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Validate &amp; profile</a:t>
            </a:r>
            <a:endParaRPr lang="en-US" sz="800" dirty="0"/>
          </a:p>
        </p:txBody>
      </p:sp>
      <p:sp>
        <p:nvSpPr>
          <p:cNvPr id="9" name="Text 7"/>
          <p:cNvSpPr/>
          <p:nvPr/>
        </p:nvSpPr>
        <p:spPr>
          <a:xfrm>
            <a:off x="868680" y="329184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Map to value levers</a:t>
            </a:r>
            <a:endParaRPr lang="en-US" sz="800" dirty="0"/>
          </a:p>
        </p:txBody>
      </p:sp>
      <p:sp>
        <p:nvSpPr>
          <p:cNvPr id="10" name="Shape 8"/>
          <p:cNvSpPr/>
          <p:nvPr/>
        </p:nvSpPr>
        <p:spPr>
          <a:xfrm>
            <a:off x="2651760" y="1188720"/>
            <a:ext cx="1828800" cy="4846320"/>
          </a:xfrm>
          <a:prstGeom prst="rect">
            <a:avLst/>
          </a:prstGeom>
          <a:solidFill>
            <a:srgbClr val="00A651"/>
          </a:solidFill>
          <a:ln/>
        </p:spPr>
      </p:sp>
      <p:sp>
        <p:nvSpPr>
          <p:cNvPr id="11" name="Text 9"/>
          <p:cNvSpPr/>
          <p:nvPr/>
        </p:nvSpPr>
        <p:spPr>
          <a:xfrm>
            <a:off x="2743200" y="1371600"/>
            <a:ext cx="1645920" cy="2286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 2</a:t>
            </a:r>
            <a:endParaRPr lang="en-US" sz="1000" dirty="0"/>
          </a:p>
        </p:txBody>
      </p:sp>
      <p:sp>
        <p:nvSpPr>
          <p:cNvPr id="12" name="Text 10"/>
          <p:cNvSpPr/>
          <p:nvPr/>
        </p:nvSpPr>
        <p:spPr>
          <a:xfrm>
            <a:off x="2743200" y="1737360"/>
            <a:ext cx="164592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AGENTIC ANALYSIS</a:t>
            </a:r>
            <a:endParaRPr lang="en-US" sz="1100" dirty="0"/>
          </a:p>
        </p:txBody>
      </p:sp>
      <p:sp>
        <p:nvSpPr>
          <p:cNvPr id="13" name="Text 11"/>
          <p:cNvSpPr/>
          <p:nvPr/>
        </p:nvSpPr>
        <p:spPr>
          <a:xfrm>
            <a:off x="2788920" y="219456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Run OPAR loop</a:t>
            </a:r>
            <a:endParaRPr lang="en-US" sz="800" dirty="0"/>
          </a:p>
        </p:txBody>
      </p:sp>
      <p:sp>
        <p:nvSpPr>
          <p:cNvPr id="14" name="Text 12"/>
          <p:cNvSpPr/>
          <p:nvPr/>
        </p:nvSpPr>
        <p:spPr>
          <a:xfrm>
            <a:off x="2788920" y="274320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Root-cause analysis</a:t>
            </a:r>
            <a:endParaRPr lang="en-US" sz="800" dirty="0"/>
          </a:p>
        </p:txBody>
      </p:sp>
      <p:sp>
        <p:nvSpPr>
          <p:cNvPr id="15" name="Text 13"/>
          <p:cNvSpPr/>
          <p:nvPr/>
        </p:nvSpPr>
        <p:spPr>
          <a:xfrm>
            <a:off x="2788920" y="329184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Opportunity sizing</a:t>
            </a:r>
            <a:endParaRPr lang="en-US" sz="800" dirty="0"/>
          </a:p>
        </p:txBody>
      </p:sp>
      <p:sp>
        <p:nvSpPr>
          <p:cNvPr id="16" name="Shape 14"/>
          <p:cNvSpPr/>
          <p:nvPr/>
        </p:nvSpPr>
        <p:spPr>
          <a:xfrm>
            <a:off x="4572000" y="1188720"/>
            <a:ext cx="1828800" cy="4846320"/>
          </a:xfrm>
          <a:prstGeom prst="rect">
            <a:avLst/>
          </a:prstGeom>
          <a:solidFill>
            <a:srgbClr val="E8853C"/>
          </a:solidFill>
          <a:ln/>
        </p:spPr>
      </p:sp>
      <p:sp>
        <p:nvSpPr>
          <p:cNvPr id="17" name="Text 15"/>
          <p:cNvSpPr/>
          <p:nvPr/>
        </p:nvSpPr>
        <p:spPr>
          <a:xfrm>
            <a:off x="4663440" y="1371600"/>
            <a:ext cx="1645920" cy="2286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 3</a:t>
            </a:r>
            <a:endParaRPr lang="en-US" sz="1000" dirty="0"/>
          </a:p>
        </p:txBody>
      </p:sp>
      <p:sp>
        <p:nvSpPr>
          <p:cNvPr id="18" name="Text 16"/>
          <p:cNvSpPr/>
          <p:nvPr/>
        </p:nvSpPr>
        <p:spPr>
          <a:xfrm>
            <a:off x="4663440" y="1737360"/>
            <a:ext cx="164592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BUSINESS CASES</a:t>
            </a:r>
            <a:endParaRPr lang="en-US" sz="1100" dirty="0"/>
          </a:p>
        </p:txBody>
      </p:sp>
      <p:sp>
        <p:nvSpPr>
          <p:cNvPr id="19" name="Text 17"/>
          <p:cNvSpPr/>
          <p:nvPr/>
        </p:nvSpPr>
        <p:spPr>
          <a:xfrm>
            <a:off x="4709160" y="219456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Build 5-10 initiatives</a:t>
            </a:r>
            <a:endParaRPr lang="en-US" sz="800" dirty="0"/>
          </a:p>
        </p:txBody>
      </p:sp>
      <p:sp>
        <p:nvSpPr>
          <p:cNvPr id="20" name="Text 18"/>
          <p:cNvSpPr/>
          <p:nvPr/>
        </p:nvSpPr>
        <p:spPr>
          <a:xfrm>
            <a:off x="4709160" y="274320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Calculate ROI/timeline</a:t>
            </a:r>
            <a:endParaRPr lang="en-US" sz="800" dirty="0"/>
          </a:p>
        </p:txBody>
      </p:sp>
      <p:sp>
        <p:nvSpPr>
          <p:cNvPr id="21" name="Text 19"/>
          <p:cNvSpPr/>
          <p:nvPr/>
        </p:nvSpPr>
        <p:spPr>
          <a:xfrm>
            <a:off x="4709160" y="329184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Risk assessment</a:t>
            </a:r>
            <a:endParaRPr lang="en-US" sz="800" dirty="0"/>
          </a:p>
        </p:txBody>
      </p:sp>
      <p:sp>
        <p:nvSpPr>
          <p:cNvPr id="22" name="Shape 20"/>
          <p:cNvSpPr/>
          <p:nvPr/>
        </p:nvSpPr>
        <p:spPr>
          <a:xfrm>
            <a:off x="6492240" y="1188720"/>
            <a:ext cx="1828800" cy="4846320"/>
          </a:xfrm>
          <a:prstGeom prst="rect">
            <a:avLst/>
          </a:prstGeom>
          <a:solidFill>
            <a:srgbClr val="2A2A2A"/>
          </a:solidFill>
          <a:ln/>
        </p:spPr>
      </p:sp>
      <p:sp>
        <p:nvSpPr>
          <p:cNvPr id="23" name="Text 21"/>
          <p:cNvSpPr/>
          <p:nvPr/>
        </p:nvSpPr>
        <p:spPr>
          <a:xfrm>
            <a:off x="6583680" y="1371600"/>
            <a:ext cx="1645920" cy="2286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 4</a:t>
            </a:r>
            <a:endParaRPr lang="en-US" sz="1000" dirty="0"/>
          </a:p>
        </p:txBody>
      </p:sp>
      <p:sp>
        <p:nvSpPr>
          <p:cNvPr id="24" name="Text 22"/>
          <p:cNvSpPr/>
          <p:nvPr/>
        </p:nvSpPr>
        <p:spPr>
          <a:xfrm>
            <a:off x="6583680" y="1737360"/>
            <a:ext cx="164592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EXECUTIVE HANDOFF</a:t>
            </a:r>
            <a:endParaRPr lang="en-US" sz="1100" dirty="0"/>
          </a:p>
        </p:txBody>
      </p:sp>
      <p:sp>
        <p:nvSpPr>
          <p:cNvPr id="25" name="Text 23"/>
          <p:cNvSpPr/>
          <p:nvPr/>
        </p:nvSpPr>
        <p:spPr>
          <a:xfrm>
            <a:off x="6629400" y="219456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Present roadmap</a:t>
            </a:r>
            <a:endParaRPr lang="en-US" sz="800" dirty="0"/>
          </a:p>
        </p:txBody>
      </p:sp>
      <p:sp>
        <p:nvSpPr>
          <p:cNvPr id="26" name="Text 24"/>
          <p:cNvSpPr/>
          <p:nvPr/>
        </p:nvSpPr>
        <p:spPr>
          <a:xfrm>
            <a:off x="6629400" y="274320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Secure approvals</a:t>
            </a:r>
            <a:endParaRPr lang="en-US" sz="800" dirty="0"/>
          </a:p>
        </p:txBody>
      </p:sp>
      <p:sp>
        <p:nvSpPr>
          <p:cNvPr id="27" name="Text 25"/>
          <p:cNvSpPr/>
          <p:nvPr/>
        </p:nvSpPr>
        <p:spPr>
          <a:xfrm>
            <a:off x="6629400" y="3291840"/>
            <a:ext cx="1554480" cy="411480"/>
          </a:xfrm>
          <a:prstGeom prst="rect">
            <a:avLst/>
          </a:prstGeom>
          <a:noFill/>
          <a:ln/>
        </p:spPr>
        <p:txBody>
          <a:bodyPr wrap="square" rtlCol="0" anchor="ctr"/>
          <a:lstStyle/>
          <a:p>
            <a:pPr indent="0" marL="0">
              <a:buNone/>
            </a:pPr>
            <a:r>
              <a:rPr lang="en-US" sz="800" dirty="0">
                <a:solidFill>
                  <a:srgbClr val="FFFFFF"/>
                </a:solidFill>
                <a:latin typeface="Arial" pitchFamily="34" charset="0"/>
                <a:ea typeface="Arial" pitchFamily="34" charset="-122"/>
                <a:cs typeface="Arial" pitchFamily="34" charset="-120"/>
              </a:rPr>
              <a:t>• Launch Wave 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651"/>
          </a:solidFill>
          <a:ln/>
        </p:spPr>
      </p:sp>
      <p:sp>
        <p:nvSpPr>
          <p:cNvPr id="3" name="Text 1"/>
          <p:cNvSpPr/>
          <p:nvPr/>
        </p:nvSpPr>
        <p:spPr>
          <a:xfrm>
            <a:off x="731520" y="1463040"/>
            <a:ext cx="768096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Ready to Capture Your Hidden OpEx Value?</a:t>
            </a:r>
            <a:endParaRPr lang="en-US" sz="3600" dirty="0"/>
          </a:p>
        </p:txBody>
      </p:sp>
      <p:sp>
        <p:nvSpPr>
          <p:cNvPr id="4" name="Shape 2"/>
          <p:cNvSpPr/>
          <p:nvPr/>
        </p:nvSpPr>
        <p:spPr>
          <a:xfrm>
            <a:off x="731520" y="2468880"/>
            <a:ext cx="7680960" cy="2743200"/>
          </a:xfrm>
          <a:prstGeom prst="rect">
            <a:avLst/>
          </a:prstGeom>
          <a:solidFill>
            <a:srgbClr val="F0F0F0"/>
          </a:solidFill>
          <a:ln/>
        </p:spPr>
      </p:sp>
      <p:sp>
        <p:nvSpPr>
          <p:cNvPr id="5" name="Text 3"/>
          <p:cNvSpPr/>
          <p:nvPr/>
        </p:nvSpPr>
        <p:spPr>
          <a:xfrm>
            <a:off x="914400" y="2651760"/>
            <a:ext cx="7315200" cy="365760"/>
          </a:xfrm>
          <a:prstGeom prst="rect">
            <a:avLst/>
          </a:prstGeom>
          <a:noFill/>
          <a:ln/>
        </p:spPr>
        <p:txBody>
          <a:bodyPr wrap="square" rtlCol="0" anchor="ctr"/>
          <a:lstStyle/>
          <a:p>
            <a:pPr indent="0" marL="0">
              <a:buNone/>
            </a:pPr>
            <a:r>
              <a:rPr lang="en-US" sz="1200" b="1" dirty="0">
                <a:solidFill>
                  <a:srgbClr val="003D7A"/>
                </a:solidFill>
                <a:latin typeface="Arial" pitchFamily="34" charset="0"/>
                <a:ea typeface="Arial" pitchFamily="34" charset="-122"/>
                <a:cs typeface="Arial" pitchFamily="34" charset="-120"/>
              </a:rPr>
              <a:t>📊 Free 30-minute diagnostic analysis of your OpEx data</a:t>
            </a:r>
            <a:endParaRPr lang="en-US" sz="1200" dirty="0"/>
          </a:p>
        </p:txBody>
      </p:sp>
      <p:sp>
        <p:nvSpPr>
          <p:cNvPr id="6" name="Text 4"/>
          <p:cNvSpPr/>
          <p:nvPr/>
        </p:nvSpPr>
        <p:spPr>
          <a:xfrm>
            <a:off x="914400" y="3182112"/>
            <a:ext cx="7315200" cy="365760"/>
          </a:xfrm>
          <a:prstGeom prst="rect">
            <a:avLst/>
          </a:prstGeom>
          <a:noFill/>
          <a:ln/>
        </p:spPr>
        <p:txBody>
          <a:bodyPr wrap="square" rtlCol="0" anchor="ctr"/>
          <a:lstStyle/>
          <a:p>
            <a:pPr indent="0" marL="0">
              <a:buNone/>
            </a:pPr>
            <a:r>
              <a:rPr lang="en-US" sz="1200" b="1" dirty="0">
                <a:solidFill>
                  <a:srgbClr val="003D7A"/>
                </a:solidFill>
                <a:latin typeface="Arial" pitchFamily="34" charset="0"/>
                <a:ea typeface="Arial" pitchFamily="34" charset="-122"/>
                <a:cs typeface="Arial" pitchFamily="34" charset="-120"/>
              </a:rPr>
              <a:t>🎯 Identify your top 3 value lever opportunities</a:t>
            </a:r>
            <a:endParaRPr lang="en-US" sz="1200" dirty="0"/>
          </a:p>
        </p:txBody>
      </p:sp>
      <p:sp>
        <p:nvSpPr>
          <p:cNvPr id="7" name="Text 5"/>
          <p:cNvSpPr/>
          <p:nvPr/>
        </p:nvSpPr>
        <p:spPr>
          <a:xfrm>
            <a:off x="914400" y="3712464"/>
            <a:ext cx="7315200" cy="365760"/>
          </a:xfrm>
          <a:prstGeom prst="rect">
            <a:avLst/>
          </a:prstGeom>
          <a:noFill/>
          <a:ln/>
        </p:spPr>
        <p:txBody>
          <a:bodyPr wrap="square" rtlCol="0" anchor="ctr"/>
          <a:lstStyle/>
          <a:p>
            <a:pPr indent="0" marL="0">
              <a:buNone/>
            </a:pPr>
            <a:r>
              <a:rPr lang="en-US" sz="1200" b="1" dirty="0">
                <a:solidFill>
                  <a:srgbClr val="003D7A"/>
                </a:solidFill>
                <a:latin typeface="Arial" pitchFamily="34" charset="0"/>
                <a:ea typeface="Arial" pitchFamily="34" charset="-122"/>
                <a:cs typeface="Arial" pitchFamily="34" charset="-120"/>
              </a:rPr>
              <a:t>💼 Build a custom value realization roadmap</a:t>
            </a:r>
            <a:endParaRPr lang="en-US" sz="1200" dirty="0"/>
          </a:p>
        </p:txBody>
      </p:sp>
      <p:sp>
        <p:nvSpPr>
          <p:cNvPr id="8" name="Text 6"/>
          <p:cNvSpPr/>
          <p:nvPr/>
        </p:nvSpPr>
        <p:spPr>
          <a:xfrm>
            <a:off x="914400" y="4242816"/>
            <a:ext cx="7315200" cy="365760"/>
          </a:xfrm>
          <a:prstGeom prst="rect">
            <a:avLst/>
          </a:prstGeom>
          <a:noFill/>
          <a:ln/>
        </p:spPr>
        <p:txBody>
          <a:bodyPr wrap="square" rtlCol="0" anchor="ctr"/>
          <a:lstStyle/>
          <a:p>
            <a:pPr indent="0" marL="0">
              <a:buNone/>
            </a:pPr>
            <a:r>
              <a:rPr lang="en-US" sz="1200" b="1" dirty="0">
                <a:solidFill>
                  <a:srgbClr val="003D7A"/>
                </a:solidFill>
                <a:latin typeface="Arial" pitchFamily="34" charset="0"/>
                <a:ea typeface="Arial" pitchFamily="34" charset="-122"/>
                <a:cs typeface="Arial" pitchFamily="34" charset="-120"/>
              </a:rPr>
              <a:t>🚀 Deploy Wave 1 initiatives within 30 days</a:t>
            </a:r>
            <a:endParaRPr lang="en-US" sz="1200" dirty="0"/>
          </a:p>
        </p:txBody>
      </p:sp>
      <p:sp>
        <p:nvSpPr>
          <p:cNvPr id="9" name="Text 7"/>
          <p:cNvSpPr/>
          <p:nvPr/>
        </p:nvSpPr>
        <p:spPr>
          <a:xfrm>
            <a:off x="731520" y="6217920"/>
            <a:ext cx="7680960" cy="365760"/>
          </a:xfrm>
          <a:prstGeom prst="rect">
            <a:avLst/>
          </a:prstGeom>
          <a:noFill/>
          <a:ln/>
        </p:spPr>
        <p:txBody>
          <a:bodyPr wrap="square" rtlCol="0" anchor="ctr"/>
          <a:lstStyle/>
          <a:p>
            <a:pPr algn="ctr" indent="0" marL="0">
              <a:buNone/>
            </a:pPr>
            <a:r>
              <a:rPr lang="en-US" sz="1000" i="1" dirty="0">
                <a:solidFill>
                  <a:srgbClr val="FFFFFF"/>
                </a:solidFill>
                <a:latin typeface="Arial" pitchFamily="34" charset="0"/>
                <a:ea typeface="Arial" pitchFamily="34" charset="-122"/>
                <a:cs typeface="Arial" pitchFamily="34" charset="-120"/>
              </a:rPr>
              <a:t>OpEx Intelligence Platform | Autonomous Value Lever Optimization | info@opexintelligence.io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2026-05-10T08:25:26Z</dcterms:created>
  <dcterms:modified xsi:type="dcterms:W3CDTF">2026-05-10T08:25:26Z</dcterms:modified>
</cp:coreProperties>
</file>